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59" r:id="rId4"/>
    <p:sldId id="260" r:id="rId5"/>
    <p:sldId id="270" r:id="rId6"/>
    <p:sldId id="261" r:id="rId7"/>
    <p:sldId id="267" r:id="rId8"/>
    <p:sldId id="268" r:id="rId9"/>
    <p:sldId id="269"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DFCFE5-01EA-BA57-F884-6FE43626E1F1}" v="11" dt="2026-08-17T12:58:29.340"/>
    <p1510:client id="{61977277-B023-227D-4687-4F1795633F7F}" v="110" dt="2026-08-17T20:13:47.448"/>
    <p1510:client id="{DD8EAB49-FD8B-FBB5-8BB1-B4F2F42814D5}" v="12" dt="2026-08-18T01:57:23.1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1EB7B-D3D5-4504-8E6B-009243904099}" type="datetimeFigureOut">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532584-DB24-4400-B736-EC818DAD434E}" type="slidenum">
              <a:t>‹#›</a:t>
            </a:fld>
            <a:endParaRPr lang="en-US"/>
          </a:p>
        </p:txBody>
      </p:sp>
    </p:spTree>
    <p:extLst>
      <p:ext uri="{BB962C8B-B14F-4D97-AF65-F5344CB8AC3E}">
        <p14:creationId xmlns:p14="http://schemas.microsoft.com/office/powerpoint/2010/main" val="1586378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Owned by Student One. Team number, Student One's name/ID and the Project 1 topic must be supplied by the teammate — these were deliberately not invented. Justin's details are pre-filled and can be left as 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object names taken from the student's own implementation (LiveDemo_JustinDang_s8149950 evidence slides: S3 console, Snowflake worksheet, Tableau Cloud connection pane).
Q (teammate): "Justin, can you explain how the pedestrian dataset moves through your architecture?"
A (Justin): "Certainly. I downloaded the hourly pedestrian-counting CSV from the City of Melbourne Open Data portal and stored the original file in Amazon S3, in the raw-data prefix of the nit2202-s8149950-pedestrian-data bucket. Snowflake reads that file through an external stage and loads it into a raw table, PEDESTRIAN_COUNTS_RAW. I then expose cleaned analytical fields through a view in the ANALYTICS schema, PEDESTRIAN_COUNTS_CLEAN. Tableau Cloud connects live to that view to build the dashboard. So each platform has one job: S3 keeps the original file, Snowflake does the loading and transformation, and Tableau does the visualisation."
FOLLOW-UP Q: "Is that pipeline running automatically?"
A: "No, and I want to be precise about that. The upload to S3 and the COPY INTO load in Snowflake were a manual batch process — I ran them once. What is live is the Tableau-to-Snowflake connection, so when someone filters the dashboard it queries Snowflake in real time rather than reading a saved extract. Automating the ingestion would be the next step, using something like Snowpipe."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dataset title and publisher — City of Melbourne Open Data portal, https://data.melbourne.vic.gov.au/explore/dataset/pedestrian-counting-system-monthly-counts-per-hour/. Record count, sensor count and date range verified by the student's own Snowflake data-quality query (1,616,044 rows; 103 sensors; 2024-08-14 to 2026-08-13).
Q (teammate): "Where does this data actually come from, and how current is it?"
A (Justin): "It's an open dataset published by the City of Melbourne — hourly pedestrian counts from sensors mounted around the CBD. I used the monthly counts-per-hour extract, which came to just over 1.6 million rows across 103 sensor locations, covering August 2024 to August 2026. Each row is one sensor for one hour, with two directional counts, a combined total, the sensor name and its coordinates."
FOLLOW-UP Q: "So is the dashboard showing live pedestrian data?"
A: "Two different things are happening, and it's worth separating them. Getting the data in was a batch job — I downloaded the CSV, put it in S3 and ran COPY INTO once. So the data itself is a snapshot, not a live feed. But Tableau's connection to Snowflake is live, so the dashboard isn't querying a stale extract; every interaction hits the Snowflake view directly. To make the underlying data current you'd schedule the ingestion, and the City of Melbourne refreshes the source monthly."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consumer groups reflect the stated purpose of the Pedestrian Counting System as described by the City of Melbourne — monitoring pedestrian activity over time to inform decision-making and future planning (https://www.melbourne.vic.gov.au/pedestrian-counting-system). No usage figures or named businesses are claimed.
Q (teammate): "Who would actually open this dashboard day to day?"
A (Justin): "The primary audience is the City of Melbourne itself, in two different teams. Transport and urban planning care about the map and the monthly trend — they need to know which locations carry sustained demand before committing to footpath widening or a new crossing. City operations and event teams care about the heatmap, because their question is timing: when do we need extra staff or crowd management. Secondary audiences are CBD retailers, who want to know footfall by location and hour, and researchers who want a two-year behavioural record."
FOLLOW-UP Q: "Which one drove your design choices?"
A: "The council planning use case. That's why the map is sized by average count rather than total — a total would just reward sensors that have been installed longest. And it's why I kept the sensors with missing metadata in the row counts but filtered them off the map, so the totals stay honest even though 25,000 rows can't be plotted."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screenshot is the student's own published Tableau Cloud dashboard, Melbourne Pedestrian Activity Dashboard, captured 17 August 2026. Peak-hour observation is supported by the Snowflake DENSE_RANK query in the live demo, which returned 17:00 as the peak hour for eight of the ten busiest 2025 sensors. No percentages or dollar values are claimed.
Q (teammate): "Walk me through what the dashboard tells you that the raw data didn't."
A (Justin): "Three views, three different questions. The trend line at the top answers 'is the city getting busier' — and you can see activity moves in a repeating seasonal pattern rather than climbing steadily. The heatmap answers 'when' — the daytime and afternoon blocks are clearly darker than overnight, and the heaviest band sits around the late afternoon. The map answers 'where' — activity clusters tightly in the central retail core, and circle size varies a lot between sensors only a few streets apart. On their own those are three facts; together they let a planner say where and when to act."
FOLLOW-UP Q: "What's the single most actionable finding?"
A: "The 17:00 concentration. My ranking query showed that eight of the ten busiest sensors in 2025 hit their peak hour at 5pm, and the other two peaked at 1pm. That's a very consistent commuter signal, and it means interventions targeted at that window — signal timing, temporary widening, staff placement — would reach the largest number of people. I'd want to stress that's an average-per-hour finding across 2025, not a claim about any single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screenshot is the student's own published Tableau Cloud dashboard, Melbourne Pedestrian Activity Dashboard, captured 17 August 2026. Peak-hour observation is supported by the Snowflake DENSE_RANK query in the live demo, which returned 17:00 as the peak hour for eight of the ten busiest 2025 sensors. No percentages or dollar values are claimed.
Q (teammate): "Walk me through what the dashboard tells you that the raw data didn't."
A (Justin): "Three views, three different questions. The trend line at the top answers 'is the city getting busier' — and you can see activity moves in a repeating seasonal pattern rather than climbing steadily. The heatmap answers 'when' — the daytime and afternoon blocks are clearly darker than overnight, and the heaviest band sits around the late afternoon. The map answers 'where' — activity clusters tightly in the central retail core, and circle size varies a lot between sensors only a few streets apart. On their own those are three facts; together they let a planner say where and when to act."
FOLLOW-UP Q: "What's the single most actionable finding?"
A: "The 17:00 concentration. My ranking query showed that eight of the ten busiest sensors in 2025 hit their peak hour at 5pm, and the other two peaked at 1pm. That's a very consistent commuter signal, and it means interventions targeted at that window — signal timing, temporary widening, staff placement — would reach the largest number of people. I'd want to stress that's an average-per-hour finding across 2025, not a claim about any single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Presented by Student Two (Justin) per the assignment requirement that if Student One presents the cover, Student Two presents the references.
All URLs above were checked at the time of writing; re-verify before submission and confirm your unit's preferred APA 7 treatment of software documentation. The unit-materials entry lists the assignment requirements document author as shown on that document; adjust if your unit guide prefers a different form.
Project 1 references are a placeholder — they must come from the teammate.
Q (teammate): "Anything you'd flag about how the deck was put together?"
A (Justin): "Yes — we used generative AI to help structure and word the slides and to lay out the diagram. The implementation was ours: the S3 bucket, the Snowflake load and queries, and the Tableau dashboard. We checked every number on these slides against our own query output, and we can explain any of the design decisions."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277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6.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6.png"/><Relationship Id="rId7" Type="http://schemas.openxmlformats.org/officeDocument/2006/relationships/image" Target="../media/image26.png"/><Relationship Id="rId12"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12.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7.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hyperlink" Target="https://data.cityofsydney.nsw.gov.au/datasets/cityofsydney::walking-count-surveys/about"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a:blip r:embed="rId3"/>
          <a:stretch>
            <a:fillRect t="-9000" b="-9000"/>
          </a:stretch>
        </a:blipFill>
        <a:effectLst/>
      </p:bgPr>
    </p:bg>
    <p:spTree>
      <p:nvGrpSpPr>
        <p:cNvPr id="1" name=""/>
        <p:cNvGrpSpPr/>
        <p:nvPr/>
      </p:nvGrpSpPr>
      <p:grpSpPr>
        <a:xfrm>
          <a:off x="0" y="0"/>
          <a:ext cx="0" cy="0"/>
          <a:chOff x="0" y="0"/>
          <a:chExt cx="0" cy="0"/>
        </a:xfrm>
      </p:grpSpPr>
      <p:sp>
        <p:nvSpPr>
          <p:cNvPr id="2" name="Shape 0"/>
          <p:cNvSpPr/>
          <p:nvPr/>
        </p:nvSpPr>
        <p:spPr>
          <a:xfrm>
            <a:off x="457200" y="566928"/>
            <a:ext cx="118872" cy="118872"/>
          </a:xfrm>
          <a:prstGeom prst="rect">
            <a:avLst/>
          </a:prstGeom>
          <a:solidFill>
            <a:srgbClr val="E4572E"/>
          </a:solidFill>
          <a:ln w="12700">
            <a:solidFill>
              <a:srgbClr val="E4572E"/>
            </a:solidFill>
            <a:prstDash val="solid"/>
          </a:ln>
        </p:spPr>
      </p:sp>
      <p:sp>
        <p:nvSpPr>
          <p:cNvPr id="3" name="Text 1"/>
          <p:cNvSpPr/>
          <p:nvPr/>
        </p:nvSpPr>
        <p:spPr>
          <a:xfrm>
            <a:off x="676656" y="493776"/>
            <a:ext cx="8229600" cy="274320"/>
          </a:xfrm>
          <a:prstGeom prst="rect">
            <a:avLst/>
          </a:prstGeom>
          <a:noFill/>
          <a:ln/>
        </p:spPr>
        <p:txBody>
          <a:bodyPr wrap="square" lIns="0" tIns="0" rIns="0" bIns="0" rtlCol="0" anchor="ctr"/>
          <a:lstStyle/>
          <a:p>
            <a:endParaRPr lang="en-US" sz="950" b="1" kern="0" spc="120" dirty="0">
              <a:solidFill>
                <a:srgbClr val="E4572E"/>
              </a:solidFill>
              <a:latin typeface="Calibri"/>
              <a:ea typeface="Calibri"/>
              <a:cs typeface="Calibri"/>
            </a:endParaRPr>
          </a:p>
        </p:txBody>
      </p:sp>
      <p:sp>
        <p:nvSpPr>
          <p:cNvPr id="5" name="Shape 3"/>
          <p:cNvSpPr/>
          <p:nvPr/>
        </p:nvSpPr>
        <p:spPr>
          <a:xfrm>
            <a:off x="457200" y="1691640"/>
            <a:ext cx="11274552" cy="4160520"/>
          </a:xfrm>
          <a:prstGeom prst="roundRect">
            <a:avLst>
              <a:gd name="adj" fmla="val 1099"/>
            </a:avLst>
          </a:prstGeom>
          <a:solidFill>
            <a:srgbClr val="F7F9FB"/>
          </a:solidFill>
          <a:ln w="19050">
            <a:solidFill>
              <a:srgbClr val="B9C6D2"/>
            </a:solidFill>
            <a:prstDash val="dash"/>
          </a:ln>
        </p:spPr>
      </p:sp>
      <p:sp>
        <p:nvSpPr>
          <p:cNvPr id="6" name="Text 4"/>
          <p:cNvSpPr/>
          <p:nvPr/>
        </p:nvSpPr>
        <p:spPr>
          <a:xfrm>
            <a:off x="914400" y="2057400"/>
            <a:ext cx="10332720" cy="457200"/>
          </a:xfrm>
          <a:prstGeom prst="rect">
            <a:avLst/>
          </a:prstGeom>
          <a:noFill/>
          <a:ln/>
        </p:spPr>
        <p:txBody>
          <a:bodyPr wrap="square" lIns="0" tIns="0" rIns="0" bIns="0" rtlCol="0" anchor="ctr"/>
          <a:lstStyle/>
          <a:p>
            <a:pPr marL="0" indent="0" algn="l">
              <a:buNone/>
            </a:pPr>
            <a:endParaRPr lang="en-US" sz="2000" b="1" dirty="0">
              <a:solidFill>
                <a:srgbClr val="12263A"/>
              </a:solidFill>
              <a:latin typeface="Cambria"/>
              <a:ea typeface="Cambria"/>
            </a:endParaRPr>
          </a:p>
        </p:txBody>
      </p:sp>
      <p:sp>
        <p:nvSpPr>
          <p:cNvPr id="8" name="Text 6"/>
          <p:cNvSpPr/>
          <p:nvPr/>
        </p:nvSpPr>
        <p:spPr>
          <a:xfrm>
            <a:off x="748145" y="1874520"/>
            <a:ext cx="10332720" cy="292608"/>
          </a:xfrm>
          <a:prstGeom prst="rect">
            <a:avLst/>
          </a:prstGeom>
          <a:noFill/>
          <a:ln/>
        </p:spPr>
        <p:txBody>
          <a:bodyPr wrap="square" lIns="0" tIns="0" rIns="0" bIns="0" rtlCol="0" anchor="ctr"/>
          <a:lstStyle/>
          <a:p>
            <a:pPr marL="0" indent="0" algn="l">
              <a:buNone/>
            </a:pPr>
            <a:endParaRPr lang="en-US" sz="1300" b="1" dirty="0">
              <a:solidFill>
                <a:srgbClr val="12263A"/>
              </a:solidFill>
              <a:latin typeface="Calibri"/>
              <a:ea typeface="Calibri"/>
              <a:cs typeface="Calibri"/>
            </a:endParaRPr>
          </a:p>
        </p:txBody>
      </p:sp>
      <p:sp>
        <p:nvSpPr>
          <p:cNvPr id="9" name="Text 7"/>
          <p:cNvSpPr/>
          <p:nvPr/>
        </p:nvSpPr>
        <p:spPr>
          <a:xfrm>
            <a:off x="677487" y="2720756"/>
            <a:ext cx="10149840" cy="2103120"/>
          </a:xfrm>
          <a:prstGeom prst="rect">
            <a:avLst/>
          </a:prstGeom>
          <a:noFill/>
          <a:ln/>
        </p:spPr>
        <p:txBody>
          <a:bodyPr wrap="square" lIns="0" tIns="0" rIns="0" bIns="0" rtlCol="0" anchor="t"/>
          <a:lstStyle/>
          <a:p>
            <a:pPr marL="342900" indent="-342900">
              <a:lnSpc>
                <a:spcPct val="135000"/>
              </a:lnSpc>
              <a:buSzPct val="100000"/>
              <a:buChar char="•"/>
            </a:pPr>
            <a:r>
              <a:rPr lang="en-US" sz="1300">
                <a:solidFill>
                  <a:srgbClr val="5F7183"/>
                </a:solidFill>
                <a:latin typeface="Calibri"/>
                <a:ea typeface="Calibri"/>
                <a:cs typeface="Calibri"/>
              </a:rPr>
              <a:t>Team number : 9</a:t>
            </a:r>
            <a:endParaRPr lang="en-US" sz="1300" dirty="0"/>
          </a:p>
          <a:p>
            <a:pPr marL="342900" indent="-342900">
              <a:lnSpc>
                <a:spcPct val="135000"/>
              </a:lnSpc>
              <a:buSzPct val="100000"/>
              <a:buFont typeface="Arial"/>
              <a:buChar char="•"/>
            </a:pPr>
            <a:r>
              <a:rPr lang="en-US" sz="1300" dirty="0">
                <a:solidFill>
                  <a:srgbClr val="5F7183"/>
                </a:solidFill>
                <a:latin typeface="Calibri"/>
                <a:ea typeface="Calibri"/>
                <a:cs typeface="Calibri"/>
              </a:rPr>
              <a:t>Student One: </a:t>
            </a:r>
            <a:r>
              <a:rPr lang="en-US" sz="1300" dirty="0" err="1">
                <a:solidFill>
                  <a:srgbClr val="5F7183"/>
                </a:solidFill>
                <a:latin typeface="Calibri"/>
                <a:ea typeface="Calibri"/>
                <a:cs typeface="Calibri"/>
              </a:rPr>
              <a:t>Sothearith</a:t>
            </a:r>
            <a:r>
              <a:rPr lang="en-US" sz="1300" dirty="0">
                <a:solidFill>
                  <a:srgbClr val="5F7183"/>
                </a:solidFill>
                <a:latin typeface="Calibri"/>
                <a:ea typeface="Calibri"/>
                <a:cs typeface="Calibri"/>
              </a:rPr>
              <a:t> Kaing, s8170868 — Project 1: Walking Count Surveys: City of Sydney</a:t>
            </a:r>
            <a:endParaRPr lang="en-US" sz="1300" dirty="0">
              <a:latin typeface="Calibri"/>
              <a:ea typeface="Calibri"/>
              <a:cs typeface="Calibri"/>
            </a:endParaRPr>
          </a:p>
          <a:p>
            <a:pPr marL="342900" indent="-342900" algn="l">
              <a:lnSpc>
                <a:spcPct val="135000"/>
              </a:lnSpc>
              <a:buSzPct val="100000"/>
              <a:buChar char="•"/>
            </a:pPr>
            <a:r>
              <a:rPr lang="en-US" sz="1300" dirty="0">
                <a:solidFill>
                  <a:srgbClr val="5F7183"/>
                </a:solidFill>
                <a:latin typeface="Calibri" pitchFamily="34" charset="0"/>
                <a:ea typeface="Calibri" pitchFamily="34" charset="-122"/>
                <a:cs typeface="Calibri" pitchFamily="34" charset="-120"/>
              </a:rPr>
              <a:t>Student Two: Justin Dang, s8149950 — Project 2: City of Melbourne Pedestrian Counting System</a:t>
            </a:r>
            <a:endParaRPr lang="en-US" sz="1300" dirty="0"/>
          </a:p>
          <a:p>
            <a:pPr marL="342900" indent="-342900" algn="l">
              <a:lnSpc>
                <a:spcPct val="135000"/>
              </a:lnSpc>
              <a:buSzPct val="100000"/>
              <a:buChar char="•"/>
            </a:pPr>
            <a:r>
              <a:rPr lang="en-US" sz="1300" dirty="0">
                <a:solidFill>
                  <a:srgbClr val="5F7183"/>
                </a:solidFill>
                <a:latin typeface="Calibri" pitchFamily="34" charset="0"/>
                <a:ea typeface="Calibri" pitchFamily="34" charset="-122"/>
                <a:cs typeface="Calibri" pitchFamily="34" charset="-120"/>
              </a:rPr>
              <a:t>Unit code and title: NIT2202 Big Data</a:t>
            </a:r>
            <a:endParaRPr lang="en-US" sz="1300" dirty="0"/>
          </a:p>
        </p:txBody>
      </p:sp>
      <p:sp>
        <p:nvSpPr>
          <p:cNvPr id="10" name="Text 8"/>
          <p:cNvSpPr/>
          <p:nvPr/>
        </p:nvSpPr>
        <p:spPr>
          <a:xfrm>
            <a:off x="457200" y="6400800"/>
            <a:ext cx="7315200" cy="274320"/>
          </a:xfrm>
          <a:prstGeom prst="rect">
            <a:avLst/>
          </a:prstGeom>
          <a:noFill/>
          <a:ln/>
        </p:spPr>
        <p:txBody>
          <a:bodyPr wrap="square" lIns="0" tIns="0" rIns="0" bIns="0" rtlCol="0" anchor="ctr"/>
          <a:lstStyle/>
          <a:p>
            <a:pPr marL="0" indent="0" algn="l">
              <a:buNone/>
            </a:pPr>
            <a:r>
              <a:rPr lang="en-US" sz="900" dirty="0">
                <a:solidFill>
                  <a:srgbClr val="5F7183"/>
                </a:solidFill>
                <a:latin typeface="Calibri" pitchFamily="34" charset="0"/>
                <a:ea typeface="Calibri" pitchFamily="34" charset="-122"/>
                <a:cs typeface="Calibri" pitchFamily="34" charset="-120"/>
              </a:rPr>
              <a:t>NIT2202 Big Data  ·  Team Presentation</a:t>
            </a:r>
            <a:endParaRPr lang="en-US" sz="900" dirty="0"/>
          </a:p>
        </p:txBody>
      </p:sp>
      <p:sp>
        <p:nvSpPr>
          <p:cNvPr id="11" name="Text 9"/>
          <p:cNvSpPr/>
          <p:nvPr/>
        </p:nvSpPr>
        <p:spPr>
          <a:xfrm>
            <a:off x="11247120" y="6400800"/>
            <a:ext cx="502920" cy="274320"/>
          </a:xfrm>
          <a:prstGeom prst="rect">
            <a:avLst/>
          </a:prstGeom>
          <a:noFill/>
          <a:ln/>
        </p:spPr>
        <p:txBody>
          <a:bodyPr wrap="square" lIns="0" tIns="0" rIns="0" bIns="0" rtlCol="0" anchor="ctr"/>
          <a:lstStyle/>
          <a:p>
            <a:pPr marL="0" indent="0" algn="r">
              <a:buNone/>
            </a:pPr>
            <a:r>
              <a:rPr lang="en-US" sz="900" dirty="0">
                <a:solidFill>
                  <a:srgbClr val="5F7183"/>
                </a:solidFill>
                <a:latin typeface="Calibri" pitchFamily="34" charset="0"/>
                <a:ea typeface="Calibri" pitchFamily="34" charset="-122"/>
                <a:cs typeface="Calibri" pitchFamily="34" charset="-120"/>
              </a:rPr>
              <a:t>1</a:t>
            </a:r>
            <a:endParaRPr lang="en-US" sz="900" dirty="0"/>
          </a:p>
        </p:txBody>
      </p:sp>
      <p:sp>
        <p:nvSpPr>
          <p:cNvPr id="14" name="Text 2">
            <a:extLst>
              <a:ext uri="{FF2B5EF4-FFF2-40B4-BE49-F238E27FC236}">
                <a16:creationId xmlns:a16="http://schemas.microsoft.com/office/drawing/2014/main" id="{E29D9485-F425-859E-2435-A57F77146C0D}"/>
              </a:ext>
            </a:extLst>
          </p:cNvPr>
          <p:cNvSpPr/>
          <p:nvPr/>
        </p:nvSpPr>
        <p:spPr>
          <a:xfrm>
            <a:off x="498763" y="1714083"/>
            <a:ext cx="11247120" cy="566928"/>
          </a:xfrm>
          <a:prstGeom prst="rect">
            <a:avLst/>
          </a:prstGeom>
          <a:noFill/>
          <a:ln>
            <a:solidFill>
              <a:schemeClr val="bg1"/>
            </a:solidFill>
          </a:ln>
        </p:spPr>
        <p:txBody>
          <a:bodyPr wrap="square" lIns="0" tIns="0" rIns="0" bIns="0" rtlCol="0" anchor="ctr"/>
          <a:lstStyle/>
          <a:p>
            <a:r>
              <a:rPr lang="en-US" sz="3000" b="1" dirty="0">
                <a:solidFill>
                  <a:srgbClr val="12263A"/>
                </a:solidFill>
                <a:latin typeface="Cambria"/>
                <a:ea typeface="Cambria"/>
              </a:rPr>
              <a:t>Pedestrian Surveys In Melbourne &amp; </a:t>
            </a:r>
            <a:r>
              <a:rPr lang="en-US" sz="3000" b="1">
                <a:solidFill>
                  <a:srgbClr val="12263A"/>
                </a:solidFill>
                <a:latin typeface="Cambria"/>
                <a:ea typeface="Cambria"/>
              </a:rPr>
              <a:t>Sydney</a:t>
            </a:r>
            <a:endParaRPr lang="en-US">
              <a:ea typeface="Cambria"/>
            </a:endParaRPr>
          </a:p>
        </p:txBody>
      </p:sp>
    </p:spTree>
    <p:extLst>
      <p:ext uri="{BB962C8B-B14F-4D97-AF65-F5344CB8AC3E}">
        <p14:creationId xmlns:p14="http://schemas.microsoft.com/office/powerpoint/2010/main" val="1135539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18872" cy="118872"/>
          </a:xfrm>
          <a:prstGeom prst="rect">
            <a:avLst/>
          </a:prstGeom>
          <a:solidFill>
            <a:srgbClr val="E4572E"/>
          </a:solidFill>
          <a:ln w="12700">
            <a:solidFill>
              <a:srgbClr val="E4572E"/>
            </a:solidFill>
            <a:prstDash val="solid"/>
          </a:ln>
        </p:spPr>
      </p:sp>
      <p:sp>
        <p:nvSpPr>
          <p:cNvPr id="3" name="Text 1"/>
          <p:cNvSpPr/>
          <p:nvPr/>
        </p:nvSpPr>
        <p:spPr>
          <a:xfrm>
            <a:off x="676656" y="493776"/>
            <a:ext cx="8229600" cy="274320"/>
          </a:xfrm>
          <a:prstGeom prst="rect">
            <a:avLst/>
          </a:prstGeom>
          <a:noFill/>
          <a:ln/>
        </p:spPr>
        <p:txBody>
          <a:bodyPr wrap="square" lIns="0" tIns="0" rIns="0" bIns="0" rtlCol="0" anchor="ctr"/>
          <a:lstStyle/>
          <a:p>
            <a:pPr marL="0" indent="0">
              <a:buNone/>
            </a:pPr>
            <a:r>
              <a:rPr lang="en-US" sz="950" b="1" kern="0" spc="120" dirty="0">
                <a:solidFill>
                  <a:srgbClr val="E4572E"/>
                </a:solidFill>
                <a:latin typeface="Calibri" pitchFamily="34" charset="0"/>
                <a:ea typeface="Calibri" pitchFamily="34" charset="-122"/>
                <a:cs typeface="Calibri" pitchFamily="34" charset="-120"/>
              </a:rPr>
              <a:t>PROJECT 2 · JUSTIN DANG · S8149950</a:t>
            </a:r>
            <a:endParaRPr lang="en-US" sz="950" dirty="0"/>
          </a:p>
        </p:txBody>
      </p:sp>
      <p:sp>
        <p:nvSpPr>
          <p:cNvPr id="4" name="Text 2"/>
          <p:cNvSpPr/>
          <p:nvPr/>
        </p:nvSpPr>
        <p:spPr>
          <a:xfrm>
            <a:off x="457200" y="841248"/>
            <a:ext cx="11247120" cy="566928"/>
          </a:xfrm>
          <a:prstGeom prst="rect">
            <a:avLst/>
          </a:prstGeom>
          <a:noFill/>
          <a:ln/>
        </p:spPr>
        <p:txBody>
          <a:bodyPr wrap="square" lIns="0" tIns="0" rIns="0" bIns="0" rtlCol="0" anchor="ctr"/>
          <a:lstStyle/>
          <a:p>
            <a:pPr marL="0" indent="0">
              <a:buNone/>
            </a:pPr>
            <a:r>
              <a:rPr lang="en-US" sz="3000" b="1" dirty="0">
                <a:solidFill>
                  <a:srgbClr val="12263A"/>
                </a:solidFill>
                <a:latin typeface="Cambria" pitchFamily="34" charset="0"/>
                <a:ea typeface="Cambria" pitchFamily="34" charset="-122"/>
                <a:cs typeface="Cambria" pitchFamily="34" charset="-120"/>
              </a:rPr>
              <a:t>AWS Architecture — Pedestrian Counting Pipeline</a:t>
            </a:r>
            <a:endParaRPr lang="en-US" sz="3000" dirty="0"/>
          </a:p>
        </p:txBody>
      </p:sp>
      <p:sp>
        <p:nvSpPr>
          <p:cNvPr id="5" name="Shape 3"/>
          <p:cNvSpPr/>
          <p:nvPr/>
        </p:nvSpPr>
        <p:spPr>
          <a:xfrm>
            <a:off x="434340" y="1965960"/>
            <a:ext cx="2377440" cy="2606040"/>
          </a:xfrm>
          <a:prstGeom prst="roundRect">
            <a:avLst>
              <a:gd name="adj" fmla="val 2308"/>
            </a:avLst>
          </a:prstGeom>
          <a:solidFill>
            <a:srgbClr val="FFFFFF"/>
          </a:solidFill>
          <a:ln w="15875">
            <a:solidFill>
              <a:srgbClr val="D5DCE3"/>
            </a:solidFill>
            <a:prstDash val="solid"/>
          </a:ln>
          <a:effectLst>
            <a:outerShdw blurRad="101600" dist="25400" dir="5400000" algn="bl" rotWithShape="0">
              <a:srgbClr val="9AA9B8">
                <a:alpha val="22000"/>
              </a:srgbClr>
            </a:outerShdw>
          </a:effectLst>
        </p:spPr>
      </p:sp>
      <p:sp>
        <p:nvSpPr>
          <p:cNvPr id="6" name="Shape 4"/>
          <p:cNvSpPr/>
          <p:nvPr/>
        </p:nvSpPr>
        <p:spPr>
          <a:xfrm>
            <a:off x="434340" y="1965960"/>
            <a:ext cx="2377440" cy="749808"/>
          </a:xfrm>
          <a:prstGeom prst="roundRect">
            <a:avLst>
              <a:gd name="adj" fmla="val 7317"/>
            </a:avLst>
          </a:prstGeom>
          <a:solidFill>
            <a:srgbClr val="2A6F97"/>
          </a:solidFill>
          <a:ln w="12700">
            <a:solidFill>
              <a:srgbClr val="2A6F97"/>
            </a:solidFill>
            <a:prstDash val="solid"/>
          </a:ln>
        </p:spPr>
      </p:sp>
      <p:sp>
        <p:nvSpPr>
          <p:cNvPr id="7" name="Text 5"/>
          <p:cNvSpPr/>
          <p:nvPr/>
        </p:nvSpPr>
        <p:spPr>
          <a:xfrm>
            <a:off x="525780" y="1965960"/>
            <a:ext cx="2194560" cy="749808"/>
          </a:xfrm>
          <a:prstGeom prst="rect">
            <a:avLst/>
          </a:prstGeom>
          <a:noFill/>
          <a:ln/>
        </p:spPr>
        <p:txBody>
          <a:bodyPr wrap="square" lIns="0" tIns="0" rIns="0" bIns="0" rtlCol="0" anchor="ctr"/>
          <a:lstStyle/>
          <a:p>
            <a:pPr marL="0" indent="0" algn="ctr">
              <a:lnSpc>
                <a:spcPct val="92000"/>
              </a:lnSpc>
              <a:buNone/>
            </a:pPr>
            <a:r>
              <a:rPr lang="en-US" sz="1350" b="1" dirty="0">
                <a:solidFill>
                  <a:srgbClr val="FFFFFF"/>
                </a:solidFill>
                <a:latin typeface="Cambria" pitchFamily="34" charset="0"/>
                <a:ea typeface="Cambria" pitchFamily="34" charset="-122"/>
                <a:cs typeface="Cambria" pitchFamily="34" charset="-120"/>
              </a:rPr>
              <a:t>City of Melbourne</a:t>
            </a:r>
            <a:endParaRPr lang="en-US" sz="1350" dirty="0"/>
          </a:p>
          <a:p>
            <a:pPr marL="0" indent="0" algn="ctr">
              <a:lnSpc>
                <a:spcPct val="92000"/>
              </a:lnSpc>
              <a:buNone/>
            </a:pPr>
            <a:r>
              <a:rPr lang="en-US" sz="1350" b="1" dirty="0">
                <a:solidFill>
                  <a:srgbClr val="FFFFFF"/>
                </a:solidFill>
                <a:latin typeface="Cambria" pitchFamily="34" charset="0"/>
                <a:ea typeface="Cambria" pitchFamily="34" charset="-122"/>
                <a:cs typeface="Cambria" pitchFamily="34" charset="-120"/>
              </a:rPr>
              <a:t>Open Data</a:t>
            </a:r>
            <a:endParaRPr lang="en-US" sz="1350" dirty="0"/>
          </a:p>
        </p:txBody>
      </p:sp>
      <p:sp>
        <p:nvSpPr>
          <p:cNvPr id="8" name="Text 6"/>
          <p:cNvSpPr/>
          <p:nvPr/>
        </p:nvSpPr>
        <p:spPr>
          <a:xfrm>
            <a:off x="580644" y="2807208"/>
            <a:ext cx="2084832" cy="457200"/>
          </a:xfrm>
          <a:prstGeom prst="rect">
            <a:avLst/>
          </a:prstGeom>
          <a:noFill/>
          <a:ln/>
        </p:spPr>
        <p:txBody>
          <a:bodyPr wrap="square" lIns="0" tIns="0" rIns="0" bIns="0" rtlCol="0" anchor="t"/>
          <a:lstStyle/>
          <a:p>
            <a:pPr marL="0" indent="0" algn="l">
              <a:lnSpc>
                <a:spcPct val="105000"/>
              </a:lnSpc>
              <a:buNone/>
            </a:pPr>
            <a:r>
              <a:rPr lang="en-US" sz="1150" b="1" dirty="0">
                <a:solidFill>
                  <a:srgbClr val="E4572E"/>
                </a:solidFill>
                <a:latin typeface="Calibri" pitchFamily="34" charset="0"/>
                <a:ea typeface="Calibri" pitchFamily="34" charset="-122"/>
                <a:cs typeface="Calibri" pitchFamily="34" charset="-120"/>
              </a:rPr>
              <a:t>Publishes the source data</a:t>
            </a:r>
            <a:endParaRPr lang="en-US" sz="1150" dirty="0"/>
          </a:p>
        </p:txBody>
      </p:sp>
      <p:sp>
        <p:nvSpPr>
          <p:cNvPr id="9" name="Text 7"/>
          <p:cNvSpPr/>
          <p:nvPr/>
        </p:nvSpPr>
        <p:spPr>
          <a:xfrm>
            <a:off x="580644" y="3337560"/>
            <a:ext cx="2084832" cy="1143000"/>
          </a:xfrm>
          <a:prstGeom prst="rect">
            <a:avLst/>
          </a:prstGeom>
          <a:noFill/>
          <a:ln/>
        </p:spPr>
        <p:txBody>
          <a:bodyPr wrap="square" lIns="0" tIns="0" rIns="0" bIns="0" rtlCol="0" anchor="t"/>
          <a:lstStyle/>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Pedestrian Counting System —</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monthly counts per hour</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CSV, downloaded manually</a:t>
            </a:r>
            <a:endParaRPr lang="en-US" sz="1000" dirty="0"/>
          </a:p>
        </p:txBody>
      </p:sp>
      <p:sp>
        <p:nvSpPr>
          <p:cNvPr id="10" name="Shape 8"/>
          <p:cNvSpPr/>
          <p:nvPr/>
        </p:nvSpPr>
        <p:spPr>
          <a:xfrm>
            <a:off x="2976372" y="3131820"/>
            <a:ext cx="274320" cy="274320"/>
          </a:xfrm>
          <a:prstGeom prst="rightArrow">
            <a:avLst/>
          </a:prstGeom>
          <a:solidFill>
            <a:srgbClr val="E4572E"/>
          </a:solidFill>
          <a:ln w="12700">
            <a:solidFill>
              <a:srgbClr val="E4572E"/>
            </a:solidFill>
            <a:prstDash val="solid"/>
          </a:ln>
        </p:spPr>
      </p:sp>
      <p:sp>
        <p:nvSpPr>
          <p:cNvPr id="11" name="Shape 9"/>
          <p:cNvSpPr/>
          <p:nvPr/>
        </p:nvSpPr>
        <p:spPr>
          <a:xfrm>
            <a:off x="3415284" y="1965960"/>
            <a:ext cx="2377440" cy="2606040"/>
          </a:xfrm>
          <a:prstGeom prst="roundRect">
            <a:avLst>
              <a:gd name="adj" fmla="val 2308"/>
            </a:avLst>
          </a:prstGeom>
          <a:solidFill>
            <a:srgbClr val="FFFFFF"/>
          </a:solidFill>
          <a:ln w="15875">
            <a:solidFill>
              <a:srgbClr val="D5DCE3"/>
            </a:solidFill>
            <a:prstDash val="solid"/>
          </a:ln>
          <a:effectLst>
            <a:outerShdw blurRad="101600" dist="25400" dir="5400000" algn="bl" rotWithShape="0">
              <a:srgbClr val="9AA9B8">
                <a:alpha val="22000"/>
              </a:srgbClr>
            </a:outerShdw>
          </a:effectLst>
        </p:spPr>
      </p:sp>
      <p:sp>
        <p:nvSpPr>
          <p:cNvPr id="12" name="Shape 10"/>
          <p:cNvSpPr/>
          <p:nvPr/>
        </p:nvSpPr>
        <p:spPr>
          <a:xfrm>
            <a:off x="3415284" y="1965960"/>
            <a:ext cx="2377440" cy="749808"/>
          </a:xfrm>
          <a:prstGeom prst="roundRect">
            <a:avLst>
              <a:gd name="adj" fmla="val 7317"/>
            </a:avLst>
          </a:prstGeom>
          <a:solidFill>
            <a:srgbClr val="2A6F97"/>
          </a:solidFill>
          <a:ln w="12700">
            <a:solidFill>
              <a:srgbClr val="2A6F97"/>
            </a:solidFill>
            <a:prstDash val="solid"/>
          </a:ln>
        </p:spPr>
      </p:sp>
      <p:sp>
        <p:nvSpPr>
          <p:cNvPr id="13" name="Text 11"/>
          <p:cNvSpPr/>
          <p:nvPr/>
        </p:nvSpPr>
        <p:spPr>
          <a:xfrm>
            <a:off x="3506724" y="1965960"/>
            <a:ext cx="2194560" cy="749808"/>
          </a:xfrm>
          <a:prstGeom prst="rect">
            <a:avLst/>
          </a:prstGeom>
          <a:noFill/>
          <a:ln/>
        </p:spPr>
        <p:txBody>
          <a:bodyPr wrap="square" lIns="0" tIns="0" rIns="0" bIns="0" rtlCol="0" anchor="ctr"/>
          <a:lstStyle/>
          <a:p>
            <a:pPr marL="0" indent="0" algn="ctr">
              <a:lnSpc>
                <a:spcPct val="92000"/>
              </a:lnSpc>
              <a:buNone/>
            </a:pPr>
            <a:r>
              <a:rPr lang="en-US" sz="1350" b="1" dirty="0">
                <a:solidFill>
                  <a:srgbClr val="FFFFFF"/>
                </a:solidFill>
                <a:latin typeface="Cambria" pitchFamily="34" charset="0"/>
                <a:ea typeface="Cambria" pitchFamily="34" charset="-122"/>
                <a:cs typeface="Cambria" pitchFamily="34" charset="-120"/>
              </a:rPr>
              <a:t>Amazon S3</a:t>
            </a:r>
            <a:endParaRPr lang="en-US" sz="1350" dirty="0"/>
          </a:p>
        </p:txBody>
      </p:sp>
      <p:sp>
        <p:nvSpPr>
          <p:cNvPr id="14" name="Text 12"/>
          <p:cNvSpPr/>
          <p:nvPr/>
        </p:nvSpPr>
        <p:spPr>
          <a:xfrm>
            <a:off x="3561588" y="2807208"/>
            <a:ext cx="2084832" cy="457200"/>
          </a:xfrm>
          <a:prstGeom prst="rect">
            <a:avLst/>
          </a:prstGeom>
          <a:noFill/>
          <a:ln/>
        </p:spPr>
        <p:txBody>
          <a:bodyPr wrap="square" lIns="0" tIns="0" rIns="0" bIns="0" rtlCol="0" anchor="t"/>
          <a:lstStyle/>
          <a:p>
            <a:pPr marL="0" indent="0" algn="l">
              <a:lnSpc>
                <a:spcPct val="105000"/>
              </a:lnSpc>
              <a:buNone/>
            </a:pPr>
            <a:r>
              <a:rPr lang="en-US" sz="1150" b="1" dirty="0">
                <a:solidFill>
                  <a:srgbClr val="E4572E"/>
                </a:solidFill>
                <a:latin typeface="Calibri" pitchFamily="34" charset="0"/>
                <a:ea typeface="Calibri" pitchFamily="34" charset="-122"/>
                <a:cs typeface="Calibri" pitchFamily="34" charset="-120"/>
              </a:rPr>
              <a:t>Stores the original CSV</a:t>
            </a:r>
            <a:endParaRPr lang="en-US" sz="1150" dirty="0"/>
          </a:p>
        </p:txBody>
      </p:sp>
      <p:sp>
        <p:nvSpPr>
          <p:cNvPr id="15" name="Text 13"/>
          <p:cNvSpPr/>
          <p:nvPr/>
        </p:nvSpPr>
        <p:spPr>
          <a:xfrm>
            <a:off x="3561588" y="3337560"/>
            <a:ext cx="2084832" cy="1143000"/>
          </a:xfrm>
          <a:prstGeom prst="rect">
            <a:avLst/>
          </a:prstGeom>
          <a:noFill/>
          <a:ln/>
        </p:spPr>
        <p:txBody>
          <a:bodyPr wrap="square" lIns="0" tIns="0" rIns="0" bIns="0" rtlCol="0" anchor="t"/>
          <a:lstStyle/>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Bucket:</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nit2202-s8149950-</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pedestrian-data</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Prefix: raw-data/</a:t>
            </a:r>
            <a:endParaRPr lang="en-US" sz="1000" dirty="0"/>
          </a:p>
        </p:txBody>
      </p:sp>
      <p:sp>
        <p:nvSpPr>
          <p:cNvPr id="16" name="Shape 14"/>
          <p:cNvSpPr/>
          <p:nvPr/>
        </p:nvSpPr>
        <p:spPr>
          <a:xfrm>
            <a:off x="5957316" y="3131820"/>
            <a:ext cx="274320" cy="274320"/>
          </a:xfrm>
          <a:prstGeom prst="rightArrow">
            <a:avLst/>
          </a:prstGeom>
          <a:solidFill>
            <a:srgbClr val="E4572E"/>
          </a:solidFill>
          <a:ln w="12700">
            <a:solidFill>
              <a:srgbClr val="E4572E"/>
            </a:solidFill>
            <a:prstDash val="solid"/>
          </a:ln>
        </p:spPr>
      </p:sp>
      <p:sp>
        <p:nvSpPr>
          <p:cNvPr id="17" name="Shape 15"/>
          <p:cNvSpPr/>
          <p:nvPr/>
        </p:nvSpPr>
        <p:spPr>
          <a:xfrm>
            <a:off x="6396228" y="1965960"/>
            <a:ext cx="2377440" cy="2606040"/>
          </a:xfrm>
          <a:prstGeom prst="roundRect">
            <a:avLst>
              <a:gd name="adj" fmla="val 2308"/>
            </a:avLst>
          </a:prstGeom>
          <a:solidFill>
            <a:srgbClr val="FFFFFF"/>
          </a:solidFill>
          <a:ln w="15875">
            <a:solidFill>
              <a:srgbClr val="D5DCE3"/>
            </a:solidFill>
            <a:prstDash val="solid"/>
          </a:ln>
          <a:effectLst>
            <a:outerShdw blurRad="101600" dist="25400" dir="5400000" algn="bl" rotWithShape="0">
              <a:srgbClr val="9AA9B8">
                <a:alpha val="22000"/>
              </a:srgbClr>
            </a:outerShdw>
          </a:effectLst>
        </p:spPr>
      </p:sp>
      <p:sp>
        <p:nvSpPr>
          <p:cNvPr id="18" name="Shape 16"/>
          <p:cNvSpPr/>
          <p:nvPr/>
        </p:nvSpPr>
        <p:spPr>
          <a:xfrm>
            <a:off x="6396228" y="1965960"/>
            <a:ext cx="2377440" cy="749808"/>
          </a:xfrm>
          <a:prstGeom prst="roundRect">
            <a:avLst>
              <a:gd name="adj" fmla="val 7317"/>
            </a:avLst>
          </a:prstGeom>
          <a:solidFill>
            <a:srgbClr val="12263A"/>
          </a:solidFill>
          <a:ln w="12700">
            <a:solidFill>
              <a:srgbClr val="12263A"/>
            </a:solidFill>
            <a:prstDash val="solid"/>
          </a:ln>
        </p:spPr>
      </p:sp>
      <p:sp>
        <p:nvSpPr>
          <p:cNvPr id="19" name="Text 17"/>
          <p:cNvSpPr/>
          <p:nvPr/>
        </p:nvSpPr>
        <p:spPr>
          <a:xfrm>
            <a:off x="6487668" y="1965960"/>
            <a:ext cx="2194560" cy="749808"/>
          </a:xfrm>
          <a:prstGeom prst="rect">
            <a:avLst/>
          </a:prstGeom>
          <a:noFill/>
          <a:ln/>
        </p:spPr>
        <p:txBody>
          <a:bodyPr wrap="square" lIns="0" tIns="0" rIns="0" bIns="0" rtlCol="0" anchor="ctr"/>
          <a:lstStyle/>
          <a:p>
            <a:pPr marL="0" indent="0" algn="ctr">
              <a:lnSpc>
                <a:spcPct val="92000"/>
              </a:lnSpc>
              <a:buNone/>
            </a:pPr>
            <a:r>
              <a:rPr lang="en-US" sz="1350" b="1" dirty="0">
                <a:solidFill>
                  <a:srgbClr val="FFFFFF"/>
                </a:solidFill>
                <a:latin typeface="Cambria" pitchFamily="34" charset="0"/>
                <a:ea typeface="Cambria" pitchFamily="34" charset="-122"/>
                <a:cs typeface="Cambria" pitchFamily="34" charset="-120"/>
              </a:rPr>
              <a:t>Snowflake</a:t>
            </a:r>
            <a:endParaRPr lang="en-US" sz="1350" dirty="0"/>
          </a:p>
        </p:txBody>
      </p:sp>
      <p:sp>
        <p:nvSpPr>
          <p:cNvPr id="20" name="Text 18"/>
          <p:cNvSpPr/>
          <p:nvPr/>
        </p:nvSpPr>
        <p:spPr>
          <a:xfrm>
            <a:off x="6542532" y="2807208"/>
            <a:ext cx="2084832" cy="457200"/>
          </a:xfrm>
          <a:prstGeom prst="rect">
            <a:avLst/>
          </a:prstGeom>
          <a:noFill/>
          <a:ln/>
        </p:spPr>
        <p:txBody>
          <a:bodyPr wrap="square" lIns="0" tIns="0" rIns="0" bIns="0" rtlCol="0" anchor="t"/>
          <a:lstStyle/>
          <a:p>
            <a:pPr marL="0" indent="0" algn="l">
              <a:lnSpc>
                <a:spcPct val="105000"/>
              </a:lnSpc>
              <a:buNone/>
            </a:pPr>
            <a:r>
              <a:rPr lang="en-US" sz="1150" b="1" dirty="0">
                <a:solidFill>
                  <a:srgbClr val="E4572E"/>
                </a:solidFill>
                <a:latin typeface="Calibri" pitchFamily="34" charset="0"/>
                <a:ea typeface="Calibri" pitchFamily="34" charset="-122"/>
                <a:cs typeface="Calibri" pitchFamily="34" charset="-120"/>
              </a:rPr>
              <a:t>Loads, validates, transforms</a:t>
            </a:r>
            <a:endParaRPr lang="en-US" sz="1150" dirty="0"/>
          </a:p>
        </p:txBody>
      </p:sp>
      <p:sp>
        <p:nvSpPr>
          <p:cNvPr id="21" name="Text 19"/>
          <p:cNvSpPr/>
          <p:nvPr/>
        </p:nvSpPr>
        <p:spPr>
          <a:xfrm>
            <a:off x="6542532" y="3337560"/>
            <a:ext cx="2084832" cy="1143000"/>
          </a:xfrm>
          <a:prstGeom prst="rect">
            <a:avLst/>
          </a:prstGeom>
          <a:noFill/>
          <a:ln/>
        </p:spPr>
        <p:txBody>
          <a:bodyPr wrap="square" lIns="0" tIns="0" rIns="0" bIns="0" rtlCol="0" anchor="t"/>
          <a:lstStyle/>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Warehouse: S8149950_WH</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DB: S8149950_PEDESTRIAN_DB</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RAW → PEDESTRIAN_COUNTS_RAW</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ANALYTICS →</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PEDESTRIAN_COUNTS_CLEAN</a:t>
            </a:r>
            <a:endParaRPr lang="en-US" sz="1000" dirty="0"/>
          </a:p>
        </p:txBody>
      </p:sp>
      <p:sp>
        <p:nvSpPr>
          <p:cNvPr id="22" name="Shape 20"/>
          <p:cNvSpPr/>
          <p:nvPr/>
        </p:nvSpPr>
        <p:spPr>
          <a:xfrm>
            <a:off x="8938260" y="3131820"/>
            <a:ext cx="274320" cy="274320"/>
          </a:xfrm>
          <a:prstGeom prst="rightArrow">
            <a:avLst/>
          </a:prstGeom>
          <a:solidFill>
            <a:srgbClr val="E4572E"/>
          </a:solidFill>
          <a:ln w="12700">
            <a:solidFill>
              <a:srgbClr val="E4572E"/>
            </a:solidFill>
            <a:prstDash val="solid"/>
          </a:ln>
        </p:spPr>
      </p:sp>
      <p:sp>
        <p:nvSpPr>
          <p:cNvPr id="23" name="Shape 21"/>
          <p:cNvSpPr/>
          <p:nvPr/>
        </p:nvSpPr>
        <p:spPr>
          <a:xfrm>
            <a:off x="9377172" y="1965960"/>
            <a:ext cx="2377440" cy="2606040"/>
          </a:xfrm>
          <a:prstGeom prst="roundRect">
            <a:avLst>
              <a:gd name="adj" fmla="val 2308"/>
            </a:avLst>
          </a:prstGeom>
          <a:solidFill>
            <a:srgbClr val="FFFFFF"/>
          </a:solidFill>
          <a:ln w="15875">
            <a:solidFill>
              <a:srgbClr val="D5DCE3"/>
            </a:solidFill>
            <a:prstDash val="solid"/>
          </a:ln>
          <a:effectLst>
            <a:outerShdw blurRad="101600" dist="25400" dir="5400000" algn="bl" rotWithShape="0">
              <a:srgbClr val="9AA9B8">
                <a:alpha val="22000"/>
              </a:srgbClr>
            </a:outerShdw>
          </a:effectLst>
        </p:spPr>
      </p:sp>
      <p:sp>
        <p:nvSpPr>
          <p:cNvPr id="24" name="Shape 22"/>
          <p:cNvSpPr/>
          <p:nvPr/>
        </p:nvSpPr>
        <p:spPr>
          <a:xfrm>
            <a:off x="9377172" y="1965960"/>
            <a:ext cx="2377440" cy="749808"/>
          </a:xfrm>
          <a:prstGeom prst="roundRect">
            <a:avLst>
              <a:gd name="adj" fmla="val 7317"/>
            </a:avLst>
          </a:prstGeom>
          <a:solidFill>
            <a:srgbClr val="2A6F97"/>
          </a:solidFill>
          <a:ln w="12700">
            <a:solidFill>
              <a:srgbClr val="2A6F97"/>
            </a:solidFill>
            <a:prstDash val="solid"/>
          </a:ln>
        </p:spPr>
      </p:sp>
      <p:sp>
        <p:nvSpPr>
          <p:cNvPr id="25" name="Text 23"/>
          <p:cNvSpPr/>
          <p:nvPr/>
        </p:nvSpPr>
        <p:spPr>
          <a:xfrm>
            <a:off x="9468612" y="1965960"/>
            <a:ext cx="2194560" cy="749808"/>
          </a:xfrm>
          <a:prstGeom prst="rect">
            <a:avLst/>
          </a:prstGeom>
          <a:noFill/>
          <a:ln/>
        </p:spPr>
        <p:txBody>
          <a:bodyPr wrap="square" lIns="0" tIns="0" rIns="0" bIns="0" rtlCol="0" anchor="ctr"/>
          <a:lstStyle/>
          <a:p>
            <a:pPr marL="0" indent="0" algn="ctr">
              <a:lnSpc>
                <a:spcPct val="92000"/>
              </a:lnSpc>
              <a:buNone/>
            </a:pPr>
            <a:r>
              <a:rPr lang="en-US" sz="1350" b="1" dirty="0">
                <a:solidFill>
                  <a:srgbClr val="FFFFFF"/>
                </a:solidFill>
                <a:latin typeface="Cambria" pitchFamily="34" charset="0"/>
                <a:ea typeface="Cambria" pitchFamily="34" charset="-122"/>
                <a:cs typeface="Cambria" pitchFamily="34" charset="-120"/>
              </a:rPr>
              <a:t>Tableau Cloud</a:t>
            </a:r>
            <a:endParaRPr lang="en-US" sz="1350" dirty="0"/>
          </a:p>
        </p:txBody>
      </p:sp>
      <p:sp>
        <p:nvSpPr>
          <p:cNvPr id="26" name="Text 24"/>
          <p:cNvSpPr/>
          <p:nvPr/>
        </p:nvSpPr>
        <p:spPr>
          <a:xfrm>
            <a:off x="9523476" y="2807208"/>
            <a:ext cx="2084832" cy="457200"/>
          </a:xfrm>
          <a:prstGeom prst="rect">
            <a:avLst/>
          </a:prstGeom>
          <a:noFill/>
          <a:ln/>
        </p:spPr>
        <p:txBody>
          <a:bodyPr wrap="square" lIns="0" tIns="0" rIns="0" bIns="0" rtlCol="0" anchor="t"/>
          <a:lstStyle/>
          <a:p>
            <a:pPr marL="0" indent="0" algn="l">
              <a:lnSpc>
                <a:spcPct val="105000"/>
              </a:lnSpc>
              <a:buNone/>
            </a:pPr>
            <a:r>
              <a:rPr lang="en-US" sz="1150" b="1" dirty="0">
                <a:solidFill>
                  <a:srgbClr val="E4572E"/>
                </a:solidFill>
                <a:latin typeface="Calibri" pitchFamily="34" charset="0"/>
                <a:ea typeface="Calibri" pitchFamily="34" charset="-122"/>
                <a:cs typeface="Calibri" pitchFamily="34" charset="-120"/>
              </a:rPr>
              <a:t>Queries the view, visualises</a:t>
            </a:r>
            <a:endParaRPr lang="en-US" sz="1150" dirty="0"/>
          </a:p>
        </p:txBody>
      </p:sp>
      <p:sp>
        <p:nvSpPr>
          <p:cNvPr id="27" name="Text 25"/>
          <p:cNvSpPr/>
          <p:nvPr/>
        </p:nvSpPr>
        <p:spPr>
          <a:xfrm>
            <a:off x="9523476" y="3337560"/>
            <a:ext cx="2084832" cy="1143000"/>
          </a:xfrm>
          <a:prstGeom prst="rect">
            <a:avLst/>
          </a:prstGeom>
          <a:noFill/>
          <a:ln/>
        </p:spPr>
        <p:txBody>
          <a:bodyPr wrap="square" lIns="0" tIns="0" rIns="0" bIns="0" rtlCol="0" anchor="t"/>
          <a:lstStyle/>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Live connection to the</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ANALYTICS view</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Melbourne Pedestrian</a:t>
            </a:r>
            <a:endParaRPr lang="en-US" sz="1000" dirty="0"/>
          </a:p>
          <a:p>
            <a:pPr marL="0" indent="0" algn="l">
              <a:lnSpc>
                <a:spcPct val="112000"/>
              </a:lnSpc>
              <a:buNone/>
            </a:pPr>
            <a:r>
              <a:rPr lang="en-US" sz="1000" dirty="0">
                <a:solidFill>
                  <a:srgbClr val="5F7183"/>
                </a:solidFill>
                <a:latin typeface="Calibri" pitchFamily="34" charset="0"/>
                <a:ea typeface="Calibri" pitchFamily="34" charset="-122"/>
                <a:cs typeface="Calibri" pitchFamily="34" charset="-120"/>
              </a:rPr>
              <a:t>Activity Dashboard</a:t>
            </a:r>
            <a:endParaRPr lang="en-US" sz="1000" dirty="0"/>
          </a:p>
        </p:txBody>
      </p:sp>
      <p:sp>
        <p:nvSpPr>
          <p:cNvPr id="28" name="Text 26"/>
          <p:cNvSpPr/>
          <p:nvPr/>
        </p:nvSpPr>
        <p:spPr>
          <a:xfrm>
            <a:off x="2336292" y="4681728"/>
            <a:ext cx="1554480" cy="548640"/>
          </a:xfrm>
          <a:prstGeom prst="rect">
            <a:avLst/>
          </a:prstGeom>
          <a:noFill/>
          <a:ln/>
        </p:spPr>
        <p:txBody>
          <a:bodyPr wrap="square" lIns="0" tIns="0" rIns="0" bIns="0" rtlCol="0" anchor="t"/>
          <a:lstStyle/>
          <a:p>
            <a:pPr marL="0" indent="0" algn="ctr">
              <a:lnSpc>
                <a:spcPct val="100000"/>
              </a:lnSpc>
              <a:buNone/>
            </a:pPr>
            <a:r>
              <a:rPr lang="en-US" sz="1000" b="1" dirty="0">
                <a:solidFill>
                  <a:srgbClr val="5F7183"/>
                </a:solidFill>
                <a:latin typeface="Calibri" pitchFamily="34" charset="0"/>
                <a:ea typeface="Calibri" pitchFamily="34" charset="-122"/>
                <a:cs typeface="Calibri" pitchFamily="34" charset="-120"/>
              </a:rPr>
              <a:t>Manual download</a:t>
            </a:r>
            <a:endParaRPr lang="en-US" sz="1000" dirty="0"/>
          </a:p>
          <a:p>
            <a:pPr marL="0" indent="0" algn="ctr">
              <a:lnSpc>
                <a:spcPct val="100000"/>
              </a:lnSpc>
              <a:buNone/>
            </a:pPr>
            <a:r>
              <a:rPr lang="en-US" sz="1000" b="1" dirty="0">
                <a:solidFill>
                  <a:srgbClr val="5F7183"/>
                </a:solidFill>
                <a:latin typeface="Calibri" pitchFamily="34" charset="0"/>
                <a:ea typeface="Calibri" pitchFamily="34" charset="-122"/>
                <a:cs typeface="Calibri" pitchFamily="34" charset="-120"/>
              </a:rPr>
              <a:t>and upload</a:t>
            </a:r>
            <a:endParaRPr lang="en-US" sz="1000" dirty="0"/>
          </a:p>
        </p:txBody>
      </p:sp>
      <p:sp>
        <p:nvSpPr>
          <p:cNvPr id="29" name="Text 27"/>
          <p:cNvSpPr/>
          <p:nvPr/>
        </p:nvSpPr>
        <p:spPr>
          <a:xfrm>
            <a:off x="5317236" y="4681728"/>
            <a:ext cx="1554480" cy="548640"/>
          </a:xfrm>
          <a:prstGeom prst="rect">
            <a:avLst/>
          </a:prstGeom>
          <a:noFill/>
          <a:ln/>
        </p:spPr>
        <p:txBody>
          <a:bodyPr wrap="square" lIns="0" tIns="0" rIns="0" bIns="0" rtlCol="0" anchor="t"/>
          <a:lstStyle/>
          <a:p>
            <a:pPr marL="0" indent="0" algn="ctr">
              <a:lnSpc>
                <a:spcPct val="100000"/>
              </a:lnSpc>
              <a:buNone/>
            </a:pPr>
            <a:r>
              <a:rPr lang="en-US" sz="1000" b="1" dirty="0">
                <a:solidFill>
                  <a:srgbClr val="5F7183"/>
                </a:solidFill>
                <a:latin typeface="Calibri" pitchFamily="34" charset="0"/>
                <a:ea typeface="Calibri" pitchFamily="34" charset="-122"/>
                <a:cs typeface="Calibri" pitchFamily="34" charset="-120"/>
              </a:rPr>
              <a:t>Batch load</a:t>
            </a:r>
            <a:endParaRPr lang="en-US" sz="1000" dirty="0"/>
          </a:p>
          <a:p>
            <a:pPr marL="0" indent="0" algn="ctr">
              <a:lnSpc>
                <a:spcPct val="100000"/>
              </a:lnSpc>
              <a:buNone/>
            </a:pPr>
            <a:r>
              <a:rPr lang="en-US" sz="1000" b="1" dirty="0">
                <a:solidFill>
                  <a:srgbClr val="5F7183"/>
                </a:solidFill>
                <a:latin typeface="Calibri" pitchFamily="34" charset="0"/>
                <a:ea typeface="Calibri" pitchFamily="34" charset="-122"/>
                <a:cs typeface="Calibri" pitchFamily="34" charset="-120"/>
              </a:rPr>
              <a:t>(COPY INTO)</a:t>
            </a:r>
            <a:endParaRPr lang="en-US" sz="1000" dirty="0"/>
          </a:p>
        </p:txBody>
      </p:sp>
      <p:sp>
        <p:nvSpPr>
          <p:cNvPr id="30" name="Text 28"/>
          <p:cNvSpPr/>
          <p:nvPr/>
        </p:nvSpPr>
        <p:spPr>
          <a:xfrm>
            <a:off x="8298180" y="4681728"/>
            <a:ext cx="1554480" cy="548640"/>
          </a:xfrm>
          <a:prstGeom prst="rect">
            <a:avLst/>
          </a:prstGeom>
          <a:noFill/>
          <a:ln/>
        </p:spPr>
        <p:txBody>
          <a:bodyPr wrap="square" lIns="0" tIns="0" rIns="0" bIns="0" rtlCol="0" anchor="t"/>
          <a:lstStyle/>
          <a:p>
            <a:pPr marL="0" indent="0" algn="ctr">
              <a:lnSpc>
                <a:spcPct val="100000"/>
              </a:lnSpc>
              <a:buNone/>
            </a:pPr>
            <a:r>
              <a:rPr lang="en-US" sz="1000" b="1" dirty="0">
                <a:solidFill>
                  <a:srgbClr val="2A6F97"/>
                </a:solidFill>
                <a:latin typeface="Calibri" pitchFamily="34" charset="0"/>
                <a:ea typeface="Calibri" pitchFamily="34" charset="-122"/>
                <a:cs typeface="Calibri" pitchFamily="34" charset="-120"/>
              </a:rPr>
              <a:t>Live query</a:t>
            </a:r>
            <a:endParaRPr lang="en-US" sz="1000" dirty="0"/>
          </a:p>
          <a:p>
            <a:pPr marL="0" indent="0" algn="ctr">
              <a:lnSpc>
                <a:spcPct val="100000"/>
              </a:lnSpc>
              <a:buNone/>
            </a:pPr>
            <a:r>
              <a:rPr lang="en-US" sz="1000" b="1" dirty="0">
                <a:solidFill>
                  <a:srgbClr val="2A6F97"/>
                </a:solidFill>
                <a:latin typeface="Calibri" pitchFamily="34" charset="0"/>
                <a:ea typeface="Calibri" pitchFamily="34" charset="-122"/>
                <a:cs typeface="Calibri" pitchFamily="34" charset="-120"/>
              </a:rPr>
              <a:t>connection</a:t>
            </a:r>
            <a:endParaRPr lang="en-US" sz="1000" dirty="0"/>
          </a:p>
        </p:txBody>
      </p:sp>
      <p:sp>
        <p:nvSpPr>
          <p:cNvPr id="31" name="Text 29"/>
          <p:cNvSpPr/>
          <p:nvPr/>
        </p:nvSpPr>
        <p:spPr>
          <a:xfrm>
            <a:off x="457200" y="5394960"/>
            <a:ext cx="11274552" cy="685800"/>
          </a:xfrm>
          <a:prstGeom prst="rect">
            <a:avLst/>
          </a:prstGeom>
          <a:noFill/>
          <a:ln/>
        </p:spPr>
        <p:txBody>
          <a:bodyPr wrap="square" lIns="0" tIns="0" rIns="0" bIns="0" rtlCol="0" anchor="t"/>
          <a:lstStyle/>
          <a:p>
            <a:pPr marL="0" indent="0" algn="l">
              <a:lnSpc>
                <a:spcPct val="115000"/>
              </a:lnSpc>
              <a:buNone/>
            </a:pPr>
            <a:r>
              <a:rPr lang="en-US" sz="1250" b="1" dirty="0">
                <a:solidFill>
                  <a:srgbClr val="12263A"/>
                </a:solidFill>
                <a:latin typeface="Calibri" pitchFamily="34" charset="0"/>
                <a:ea typeface="Calibri" pitchFamily="34" charset="-122"/>
                <a:cs typeface="Calibri" pitchFamily="34" charset="-120"/>
              </a:rPr>
              <a:t>Batch, not real time. </a:t>
            </a:r>
            <a:r>
              <a:rPr lang="en-US" sz="1250" dirty="0">
                <a:solidFill>
                  <a:srgbClr val="5F7183"/>
                </a:solidFill>
                <a:latin typeface="Calibri" pitchFamily="34" charset="0"/>
                <a:ea typeface="Calibri" pitchFamily="34" charset="-122"/>
                <a:cs typeface="Calibri" pitchFamily="34" charset="-120"/>
              </a:rPr>
              <a:t>The CSV was downloaded, uploaded to S3 and loaded into Snowflake as a one-off batch process. Only the Tableau Cloud connection to the Snowflake analytics view is live, so dashboard interactions query Snowflake directly.</a:t>
            </a:r>
            <a:endParaRPr lang="en-US" sz="1250" dirty="0"/>
          </a:p>
        </p:txBody>
      </p:sp>
      <p:sp>
        <p:nvSpPr>
          <p:cNvPr id="32" name="Text 30"/>
          <p:cNvSpPr/>
          <p:nvPr/>
        </p:nvSpPr>
        <p:spPr>
          <a:xfrm>
            <a:off x="457200" y="6400800"/>
            <a:ext cx="7315200" cy="274320"/>
          </a:xfrm>
          <a:prstGeom prst="rect">
            <a:avLst/>
          </a:prstGeom>
          <a:noFill/>
          <a:ln/>
        </p:spPr>
        <p:txBody>
          <a:bodyPr wrap="square" lIns="0" tIns="0" rIns="0" bIns="0" rtlCol="0" anchor="ctr"/>
          <a:lstStyle/>
          <a:p>
            <a:pPr marL="0" indent="0" algn="l">
              <a:buNone/>
            </a:pPr>
            <a:r>
              <a:rPr lang="en-US" sz="900" dirty="0">
                <a:solidFill>
                  <a:srgbClr val="5F7183"/>
                </a:solidFill>
                <a:latin typeface="Calibri" pitchFamily="34" charset="0"/>
                <a:ea typeface="Calibri" pitchFamily="34" charset="-122"/>
                <a:cs typeface="Calibri" pitchFamily="34" charset="-120"/>
              </a:rPr>
              <a:t>NIT2202 Big Data  ·  Team Presentation</a:t>
            </a:r>
            <a:endParaRPr lang="en-US" sz="900" dirty="0"/>
          </a:p>
        </p:txBody>
      </p:sp>
      <p:sp>
        <p:nvSpPr>
          <p:cNvPr id="33" name="Text 31"/>
          <p:cNvSpPr/>
          <p:nvPr/>
        </p:nvSpPr>
        <p:spPr>
          <a:xfrm>
            <a:off x="11247120" y="6400800"/>
            <a:ext cx="502920" cy="274320"/>
          </a:xfrm>
          <a:prstGeom prst="rect">
            <a:avLst/>
          </a:prstGeom>
          <a:noFill/>
          <a:ln/>
        </p:spPr>
        <p:txBody>
          <a:bodyPr wrap="square" lIns="0" tIns="0" rIns="0" bIns="0" rtlCol="0" anchor="ctr"/>
          <a:lstStyle/>
          <a:p>
            <a:pPr marL="0" indent="0" algn="r">
              <a:buNone/>
            </a:pPr>
            <a:r>
              <a:rPr lang="en-US" sz="900" dirty="0">
                <a:solidFill>
                  <a:srgbClr val="5F7183"/>
                </a:solidFill>
                <a:latin typeface="Calibri" pitchFamily="34" charset="0"/>
                <a:ea typeface="Calibri" pitchFamily="34" charset="-122"/>
                <a:cs typeface="Calibri" pitchFamily="34" charset="-120"/>
              </a:rPr>
              <a:t>2</a:t>
            </a:r>
            <a:endParaRPr lang="en-US" sz="900" dirty="0"/>
          </a:p>
        </p:txBody>
      </p:sp>
    </p:spTree>
    <p:extLst>
      <p:ext uri="{BB962C8B-B14F-4D97-AF65-F5344CB8AC3E}">
        <p14:creationId xmlns:p14="http://schemas.microsoft.com/office/powerpoint/2010/main" val="4124491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18872" cy="118872"/>
          </a:xfrm>
          <a:prstGeom prst="rect">
            <a:avLst/>
          </a:prstGeom>
          <a:solidFill>
            <a:srgbClr val="E4572E"/>
          </a:solidFill>
          <a:ln w="12700">
            <a:solidFill>
              <a:srgbClr val="E4572E"/>
            </a:solidFill>
            <a:prstDash val="solid"/>
          </a:ln>
        </p:spPr>
      </p:sp>
      <p:sp>
        <p:nvSpPr>
          <p:cNvPr id="3" name="Text 1"/>
          <p:cNvSpPr/>
          <p:nvPr/>
        </p:nvSpPr>
        <p:spPr>
          <a:xfrm>
            <a:off x="676656" y="493776"/>
            <a:ext cx="8229600" cy="274320"/>
          </a:xfrm>
          <a:prstGeom prst="rect">
            <a:avLst/>
          </a:prstGeom>
          <a:noFill/>
          <a:ln/>
        </p:spPr>
        <p:txBody>
          <a:bodyPr wrap="square" lIns="0" tIns="0" rIns="0" bIns="0" rtlCol="0" anchor="ctr"/>
          <a:lstStyle/>
          <a:p>
            <a:pPr marL="0" indent="0">
              <a:buNone/>
            </a:pPr>
            <a:r>
              <a:rPr lang="en-US" sz="950" b="1" kern="0" spc="120" dirty="0">
                <a:solidFill>
                  <a:srgbClr val="E4572E"/>
                </a:solidFill>
                <a:latin typeface="Calibri" pitchFamily="34" charset="0"/>
                <a:ea typeface="Calibri" pitchFamily="34" charset="-122"/>
                <a:cs typeface="Calibri" pitchFamily="34" charset="-120"/>
              </a:rPr>
              <a:t>PROJECT 2 · DATA SOURCE</a:t>
            </a:r>
            <a:endParaRPr lang="en-US" sz="950" dirty="0"/>
          </a:p>
        </p:txBody>
      </p:sp>
      <p:sp>
        <p:nvSpPr>
          <p:cNvPr id="4" name="Text 2"/>
          <p:cNvSpPr/>
          <p:nvPr/>
        </p:nvSpPr>
        <p:spPr>
          <a:xfrm>
            <a:off x="457200" y="841248"/>
            <a:ext cx="11247120" cy="566928"/>
          </a:xfrm>
          <a:prstGeom prst="rect">
            <a:avLst/>
          </a:prstGeom>
          <a:noFill/>
          <a:ln/>
        </p:spPr>
        <p:txBody>
          <a:bodyPr wrap="square" lIns="0" tIns="0" rIns="0" bIns="0" rtlCol="0" anchor="ctr"/>
          <a:lstStyle/>
          <a:p>
            <a:pPr marL="0" indent="0">
              <a:buNone/>
            </a:pPr>
            <a:r>
              <a:rPr lang="en-US" sz="3000" b="1" dirty="0">
                <a:solidFill>
                  <a:srgbClr val="12263A"/>
                </a:solidFill>
                <a:latin typeface="Cambria" pitchFamily="34" charset="0"/>
                <a:ea typeface="Cambria" pitchFamily="34" charset="-122"/>
                <a:cs typeface="Cambria" pitchFamily="34" charset="-120"/>
              </a:rPr>
              <a:t>Data Source and Synchronisation</a:t>
            </a:r>
            <a:endParaRPr lang="en-US" sz="3000" dirty="0"/>
          </a:p>
        </p:txBody>
      </p:sp>
      <p:sp>
        <p:nvSpPr>
          <p:cNvPr id="5" name="Text 3"/>
          <p:cNvSpPr/>
          <p:nvPr/>
        </p:nvSpPr>
        <p:spPr>
          <a:xfrm>
            <a:off x="457200" y="1536192"/>
            <a:ext cx="5669280" cy="274320"/>
          </a:xfrm>
          <a:prstGeom prst="rect">
            <a:avLst/>
          </a:prstGeom>
          <a:noFill/>
          <a:ln/>
        </p:spPr>
        <p:txBody>
          <a:bodyPr wrap="square" lIns="0" tIns="0" rIns="0" bIns="0" rtlCol="0" anchor="ctr"/>
          <a:lstStyle/>
          <a:p>
            <a:pPr marL="0" indent="0">
              <a:buNone/>
            </a:pPr>
            <a:r>
              <a:rPr lang="en-US" sz="1400" b="1" dirty="0">
                <a:solidFill>
                  <a:srgbClr val="12263A"/>
                </a:solidFill>
                <a:latin typeface="Cambria" pitchFamily="34" charset="0"/>
                <a:ea typeface="Cambria" pitchFamily="34" charset="-122"/>
                <a:cs typeface="Cambria" pitchFamily="34" charset="-120"/>
              </a:rPr>
              <a:t>Dataset</a:t>
            </a:r>
            <a:endParaRPr lang="en-US" sz="1400" dirty="0"/>
          </a:p>
        </p:txBody>
      </p:sp>
      <p:sp>
        <p:nvSpPr>
          <p:cNvPr id="6" name="Shape 4"/>
          <p:cNvSpPr/>
          <p:nvPr/>
        </p:nvSpPr>
        <p:spPr>
          <a:xfrm>
            <a:off x="457200" y="1883664"/>
            <a:ext cx="5669280" cy="457200"/>
          </a:xfrm>
          <a:prstGeom prst="rect">
            <a:avLst/>
          </a:prstGeom>
          <a:solidFill>
            <a:srgbClr val="EEF2F6"/>
          </a:solidFill>
          <a:ln w="9525">
            <a:solidFill>
              <a:srgbClr val="D5DCE3"/>
            </a:solidFill>
            <a:prstDash val="solid"/>
          </a:ln>
        </p:spPr>
      </p:sp>
      <p:sp>
        <p:nvSpPr>
          <p:cNvPr id="7" name="Text 5"/>
          <p:cNvSpPr/>
          <p:nvPr/>
        </p:nvSpPr>
        <p:spPr>
          <a:xfrm>
            <a:off x="603504" y="1883664"/>
            <a:ext cx="1371600" cy="457200"/>
          </a:xfrm>
          <a:prstGeom prst="rect">
            <a:avLst/>
          </a:prstGeom>
          <a:noFill/>
          <a:ln/>
        </p:spPr>
        <p:txBody>
          <a:bodyPr wrap="square" lIns="0" tIns="0" rIns="0" bIns="0" rtlCol="0" anchor="ctr"/>
          <a:lstStyle/>
          <a:p>
            <a:pPr marL="0" indent="0" algn="l">
              <a:buNone/>
            </a:pPr>
            <a:r>
              <a:rPr lang="en-US" sz="1150" b="1" dirty="0">
                <a:solidFill>
                  <a:srgbClr val="12263A"/>
                </a:solidFill>
                <a:latin typeface="Calibri" pitchFamily="34" charset="0"/>
                <a:ea typeface="Calibri" pitchFamily="34" charset="-122"/>
                <a:cs typeface="Calibri" pitchFamily="34" charset="-120"/>
              </a:rPr>
              <a:t>Source</a:t>
            </a:r>
            <a:endParaRPr lang="en-US" sz="1150" dirty="0"/>
          </a:p>
        </p:txBody>
      </p:sp>
      <p:sp>
        <p:nvSpPr>
          <p:cNvPr id="8" name="Text 6"/>
          <p:cNvSpPr/>
          <p:nvPr/>
        </p:nvSpPr>
        <p:spPr>
          <a:xfrm>
            <a:off x="2011680" y="1883664"/>
            <a:ext cx="3977640" cy="457200"/>
          </a:xfrm>
          <a:prstGeom prst="rect">
            <a:avLst/>
          </a:prstGeom>
          <a:noFill/>
          <a:ln/>
        </p:spPr>
        <p:txBody>
          <a:bodyPr wrap="square" lIns="0" tIns="0" rIns="0" bIns="0" rtlCol="0" anchor="ctr"/>
          <a:lstStyle/>
          <a:p>
            <a:pPr marL="0" indent="0" algn="l">
              <a:buNone/>
            </a:pPr>
            <a:r>
              <a:rPr lang="en-US" sz="1150" dirty="0">
                <a:solidFill>
                  <a:srgbClr val="5F7183"/>
                </a:solidFill>
                <a:latin typeface="Calibri" pitchFamily="34" charset="0"/>
                <a:ea typeface="Calibri" pitchFamily="34" charset="-122"/>
                <a:cs typeface="Calibri" pitchFamily="34" charset="-120"/>
              </a:rPr>
              <a:t>City of Melbourne Open Data</a:t>
            </a:r>
            <a:endParaRPr lang="en-US" sz="1150" dirty="0"/>
          </a:p>
        </p:txBody>
      </p:sp>
      <p:sp>
        <p:nvSpPr>
          <p:cNvPr id="9" name="Shape 7"/>
          <p:cNvSpPr/>
          <p:nvPr/>
        </p:nvSpPr>
        <p:spPr>
          <a:xfrm>
            <a:off x="457200" y="2395728"/>
            <a:ext cx="5669280" cy="457200"/>
          </a:xfrm>
          <a:prstGeom prst="rect">
            <a:avLst/>
          </a:prstGeom>
          <a:solidFill>
            <a:srgbClr val="EEF2F6"/>
          </a:solidFill>
          <a:ln w="9525">
            <a:solidFill>
              <a:srgbClr val="D5DCE3"/>
            </a:solidFill>
            <a:prstDash val="solid"/>
          </a:ln>
        </p:spPr>
      </p:sp>
      <p:sp>
        <p:nvSpPr>
          <p:cNvPr id="10" name="Text 8"/>
          <p:cNvSpPr/>
          <p:nvPr/>
        </p:nvSpPr>
        <p:spPr>
          <a:xfrm>
            <a:off x="603504" y="2395728"/>
            <a:ext cx="1371600" cy="457200"/>
          </a:xfrm>
          <a:prstGeom prst="rect">
            <a:avLst/>
          </a:prstGeom>
          <a:noFill/>
          <a:ln/>
        </p:spPr>
        <p:txBody>
          <a:bodyPr wrap="square" lIns="0" tIns="0" rIns="0" bIns="0" rtlCol="0" anchor="ctr"/>
          <a:lstStyle/>
          <a:p>
            <a:pPr marL="0" indent="0" algn="l">
              <a:buNone/>
            </a:pPr>
            <a:r>
              <a:rPr lang="en-US" sz="1150" b="1" dirty="0">
                <a:solidFill>
                  <a:srgbClr val="12263A"/>
                </a:solidFill>
                <a:latin typeface="Calibri" pitchFamily="34" charset="0"/>
                <a:ea typeface="Calibri" pitchFamily="34" charset="-122"/>
                <a:cs typeface="Calibri" pitchFamily="34" charset="-120"/>
              </a:rPr>
              <a:t>Dataset</a:t>
            </a:r>
            <a:endParaRPr lang="en-US" sz="1150" dirty="0"/>
          </a:p>
        </p:txBody>
      </p:sp>
      <p:sp>
        <p:nvSpPr>
          <p:cNvPr id="11" name="Text 9"/>
          <p:cNvSpPr/>
          <p:nvPr/>
        </p:nvSpPr>
        <p:spPr>
          <a:xfrm>
            <a:off x="2011680" y="2395728"/>
            <a:ext cx="3977640" cy="457200"/>
          </a:xfrm>
          <a:prstGeom prst="rect">
            <a:avLst/>
          </a:prstGeom>
          <a:noFill/>
          <a:ln/>
        </p:spPr>
        <p:txBody>
          <a:bodyPr wrap="square" lIns="0" tIns="0" rIns="0" bIns="0" rtlCol="0" anchor="ctr"/>
          <a:lstStyle/>
          <a:p>
            <a:pPr marL="0" indent="0" algn="l">
              <a:buNone/>
            </a:pPr>
            <a:r>
              <a:rPr lang="en-US" sz="1150" dirty="0">
                <a:solidFill>
                  <a:srgbClr val="5F7183"/>
                </a:solidFill>
                <a:latin typeface="Calibri" pitchFamily="34" charset="0"/>
                <a:ea typeface="Calibri" pitchFamily="34" charset="-122"/>
                <a:cs typeface="Calibri" pitchFamily="34" charset="-120"/>
              </a:rPr>
              <a:t>Pedestrian Counting System — monthly counts per hour</a:t>
            </a:r>
            <a:endParaRPr lang="en-US" sz="1150" dirty="0"/>
          </a:p>
        </p:txBody>
      </p:sp>
      <p:sp>
        <p:nvSpPr>
          <p:cNvPr id="12" name="Shape 10"/>
          <p:cNvSpPr/>
          <p:nvPr/>
        </p:nvSpPr>
        <p:spPr>
          <a:xfrm>
            <a:off x="457200" y="2907792"/>
            <a:ext cx="5669280" cy="457200"/>
          </a:xfrm>
          <a:prstGeom prst="rect">
            <a:avLst/>
          </a:prstGeom>
          <a:solidFill>
            <a:srgbClr val="EEF2F6"/>
          </a:solidFill>
          <a:ln w="9525">
            <a:solidFill>
              <a:srgbClr val="D5DCE3"/>
            </a:solidFill>
            <a:prstDash val="solid"/>
          </a:ln>
        </p:spPr>
      </p:sp>
      <p:sp>
        <p:nvSpPr>
          <p:cNvPr id="13" name="Text 11"/>
          <p:cNvSpPr/>
          <p:nvPr/>
        </p:nvSpPr>
        <p:spPr>
          <a:xfrm>
            <a:off x="603504" y="2907792"/>
            <a:ext cx="1371600" cy="457200"/>
          </a:xfrm>
          <a:prstGeom prst="rect">
            <a:avLst/>
          </a:prstGeom>
          <a:noFill/>
          <a:ln/>
        </p:spPr>
        <p:txBody>
          <a:bodyPr wrap="square" lIns="0" tIns="0" rIns="0" bIns="0" rtlCol="0" anchor="ctr"/>
          <a:lstStyle/>
          <a:p>
            <a:pPr marL="0" indent="0" algn="l">
              <a:buNone/>
            </a:pPr>
            <a:r>
              <a:rPr lang="en-US" sz="1150" b="1" dirty="0">
                <a:solidFill>
                  <a:srgbClr val="12263A"/>
                </a:solidFill>
                <a:latin typeface="Calibri" pitchFamily="34" charset="0"/>
                <a:ea typeface="Calibri" pitchFamily="34" charset="-122"/>
                <a:cs typeface="Calibri" pitchFamily="34" charset="-120"/>
              </a:rPr>
              <a:t>Format</a:t>
            </a:r>
            <a:endParaRPr lang="en-US" sz="1150" dirty="0"/>
          </a:p>
        </p:txBody>
      </p:sp>
      <p:sp>
        <p:nvSpPr>
          <p:cNvPr id="14" name="Text 12"/>
          <p:cNvSpPr/>
          <p:nvPr/>
        </p:nvSpPr>
        <p:spPr>
          <a:xfrm>
            <a:off x="2011680" y="2907792"/>
            <a:ext cx="3977640" cy="457200"/>
          </a:xfrm>
          <a:prstGeom prst="rect">
            <a:avLst/>
          </a:prstGeom>
          <a:noFill/>
          <a:ln/>
        </p:spPr>
        <p:txBody>
          <a:bodyPr wrap="square" lIns="0" tIns="0" rIns="0" bIns="0" rtlCol="0" anchor="ctr"/>
          <a:lstStyle/>
          <a:p>
            <a:pPr marL="0" indent="0" algn="l">
              <a:buNone/>
            </a:pPr>
            <a:r>
              <a:rPr lang="en-US" sz="1150" dirty="0">
                <a:solidFill>
                  <a:srgbClr val="5F7183"/>
                </a:solidFill>
                <a:latin typeface="Calibri" pitchFamily="34" charset="0"/>
                <a:ea typeface="Calibri" pitchFamily="34" charset="-122"/>
                <a:cs typeface="Calibri" pitchFamily="34" charset="-120"/>
              </a:rPr>
              <a:t>CSV, approx. 120 MB</a:t>
            </a:r>
            <a:endParaRPr lang="en-US" sz="1150" dirty="0"/>
          </a:p>
        </p:txBody>
      </p:sp>
      <p:sp>
        <p:nvSpPr>
          <p:cNvPr id="15" name="Shape 13"/>
          <p:cNvSpPr/>
          <p:nvPr/>
        </p:nvSpPr>
        <p:spPr>
          <a:xfrm>
            <a:off x="457200" y="3419856"/>
            <a:ext cx="5669280" cy="457200"/>
          </a:xfrm>
          <a:prstGeom prst="rect">
            <a:avLst/>
          </a:prstGeom>
          <a:solidFill>
            <a:srgbClr val="EEF2F6"/>
          </a:solidFill>
          <a:ln w="9525">
            <a:solidFill>
              <a:srgbClr val="D5DCE3"/>
            </a:solidFill>
            <a:prstDash val="solid"/>
          </a:ln>
        </p:spPr>
      </p:sp>
      <p:sp>
        <p:nvSpPr>
          <p:cNvPr id="16" name="Text 14"/>
          <p:cNvSpPr/>
          <p:nvPr/>
        </p:nvSpPr>
        <p:spPr>
          <a:xfrm>
            <a:off x="603504" y="3419856"/>
            <a:ext cx="1371600" cy="457200"/>
          </a:xfrm>
          <a:prstGeom prst="rect">
            <a:avLst/>
          </a:prstGeom>
          <a:noFill/>
          <a:ln/>
        </p:spPr>
        <p:txBody>
          <a:bodyPr wrap="square" lIns="0" tIns="0" rIns="0" bIns="0" rtlCol="0" anchor="ctr"/>
          <a:lstStyle/>
          <a:p>
            <a:pPr marL="0" indent="0" algn="l">
              <a:buNone/>
            </a:pPr>
            <a:r>
              <a:rPr lang="en-US" sz="1150" b="1" dirty="0">
                <a:solidFill>
                  <a:srgbClr val="12263A"/>
                </a:solidFill>
                <a:latin typeface="Calibri" pitchFamily="34" charset="0"/>
                <a:ea typeface="Calibri" pitchFamily="34" charset="-122"/>
                <a:cs typeface="Calibri" pitchFamily="34" charset="-120"/>
              </a:rPr>
              <a:t>Records</a:t>
            </a:r>
            <a:endParaRPr lang="en-US" sz="1150" dirty="0"/>
          </a:p>
        </p:txBody>
      </p:sp>
      <p:sp>
        <p:nvSpPr>
          <p:cNvPr id="17" name="Text 15"/>
          <p:cNvSpPr/>
          <p:nvPr/>
        </p:nvSpPr>
        <p:spPr>
          <a:xfrm>
            <a:off x="2011680" y="3419856"/>
            <a:ext cx="3977640" cy="457200"/>
          </a:xfrm>
          <a:prstGeom prst="rect">
            <a:avLst/>
          </a:prstGeom>
          <a:noFill/>
          <a:ln/>
        </p:spPr>
        <p:txBody>
          <a:bodyPr wrap="square" lIns="0" tIns="0" rIns="0" bIns="0" rtlCol="0" anchor="ctr"/>
          <a:lstStyle/>
          <a:p>
            <a:pPr marL="0" indent="0" algn="l">
              <a:buNone/>
            </a:pPr>
            <a:r>
              <a:rPr lang="en-US" sz="1150" dirty="0">
                <a:solidFill>
                  <a:srgbClr val="5F7183"/>
                </a:solidFill>
                <a:latin typeface="Calibri" pitchFamily="34" charset="0"/>
                <a:ea typeface="Calibri" pitchFamily="34" charset="-122"/>
                <a:cs typeface="Calibri" pitchFamily="34" charset="-120"/>
              </a:rPr>
              <a:t>1,616,044</a:t>
            </a:r>
            <a:endParaRPr lang="en-US" sz="1150" dirty="0"/>
          </a:p>
        </p:txBody>
      </p:sp>
      <p:sp>
        <p:nvSpPr>
          <p:cNvPr id="18" name="Shape 16"/>
          <p:cNvSpPr/>
          <p:nvPr/>
        </p:nvSpPr>
        <p:spPr>
          <a:xfrm>
            <a:off x="457200" y="3931920"/>
            <a:ext cx="5669280" cy="457200"/>
          </a:xfrm>
          <a:prstGeom prst="rect">
            <a:avLst/>
          </a:prstGeom>
          <a:solidFill>
            <a:srgbClr val="EEF2F6"/>
          </a:solidFill>
          <a:ln w="9525">
            <a:solidFill>
              <a:srgbClr val="D5DCE3"/>
            </a:solidFill>
            <a:prstDash val="solid"/>
          </a:ln>
        </p:spPr>
      </p:sp>
      <p:sp>
        <p:nvSpPr>
          <p:cNvPr id="19" name="Text 17"/>
          <p:cNvSpPr/>
          <p:nvPr/>
        </p:nvSpPr>
        <p:spPr>
          <a:xfrm>
            <a:off x="603504" y="3931920"/>
            <a:ext cx="1371600" cy="457200"/>
          </a:xfrm>
          <a:prstGeom prst="rect">
            <a:avLst/>
          </a:prstGeom>
          <a:noFill/>
          <a:ln/>
        </p:spPr>
        <p:txBody>
          <a:bodyPr wrap="square" lIns="0" tIns="0" rIns="0" bIns="0" rtlCol="0" anchor="ctr"/>
          <a:lstStyle/>
          <a:p>
            <a:pPr marL="0" indent="0" algn="l">
              <a:buNone/>
            </a:pPr>
            <a:r>
              <a:rPr lang="en-US" sz="1150" b="1" dirty="0">
                <a:solidFill>
                  <a:srgbClr val="12263A"/>
                </a:solidFill>
                <a:latin typeface="Calibri" pitchFamily="34" charset="0"/>
                <a:ea typeface="Calibri" pitchFamily="34" charset="-122"/>
                <a:cs typeface="Calibri" pitchFamily="34" charset="-120"/>
              </a:rPr>
              <a:t>Sensors</a:t>
            </a:r>
            <a:endParaRPr lang="en-US" sz="1150" dirty="0"/>
          </a:p>
        </p:txBody>
      </p:sp>
      <p:sp>
        <p:nvSpPr>
          <p:cNvPr id="20" name="Text 18"/>
          <p:cNvSpPr/>
          <p:nvPr/>
        </p:nvSpPr>
        <p:spPr>
          <a:xfrm>
            <a:off x="2011680" y="3931920"/>
            <a:ext cx="3977640" cy="457200"/>
          </a:xfrm>
          <a:prstGeom prst="rect">
            <a:avLst/>
          </a:prstGeom>
          <a:noFill/>
          <a:ln/>
        </p:spPr>
        <p:txBody>
          <a:bodyPr wrap="square" lIns="0" tIns="0" rIns="0" bIns="0" rtlCol="0" anchor="ctr"/>
          <a:lstStyle/>
          <a:p>
            <a:pPr marL="0" indent="0" algn="l">
              <a:buNone/>
            </a:pPr>
            <a:r>
              <a:rPr lang="en-US" sz="1150" dirty="0">
                <a:solidFill>
                  <a:srgbClr val="5F7183"/>
                </a:solidFill>
                <a:latin typeface="Calibri" pitchFamily="34" charset="0"/>
                <a:ea typeface="Calibri" pitchFamily="34" charset="-122"/>
                <a:cs typeface="Calibri" pitchFamily="34" charset="-120"/>
              </a:rPr>
              <a:t>103 locations</a:t>
            </a:r>
            <a:endParaRPr lang="en-US" sz="1150" dirty="0"/>
          </a:p>
        </p:txBody>
      </p:sp>
      <p:sp>
        <p:nvSpPr>
          <p:cNvPr id="21" name="Shape 19"/>
          <p:cNvSpPr/>
          <p:nvPr/>
        </p:nvSpPr>
        <p:spPr>
          <a:xfrm>
            <a:off x="457200" y="4443984"/>
            <a:ext cx="5669280" cy="457200"/>
          </a:xfrm>
          <a:prstGeom prst="rect">
            <a:avLst/>
          </a:prstGeom>
          <a:solidFill>
            <a:srgbClr val="EEF2F6"/>
          </a:solidFill>
          <a:ln w="9525">
            <a:solidFill>
              <a:srgbClr val="D5DCE3"/>
            </a:solidFill>
            <a:prstDash val="solid"/>
          </a:ln>
        </p:spPr>
      </p:sp>
      <p:sp>
        <p:nvSpPr>
          <p:cNvPr id="22" name="Text 20"/>
          <p:cNvSpPr/>
          <p:nvPr/>
        </p:nvSpPr>
        <p:spPr>
          <a:xfrm>
            <a:off x="603504" y="4443984"/>
            <a:ext cx="1371600" cy="457200"/>
          </a:xfrm>
          <a:prstGeom prst="rect">
            <a:avLst/>
          </a:prstGeom>
          <a:noFill/>
          <a:ln/>
        </p:spPr>
        <p:txBody>
          <a:bodyPr wrap="square" lIns="0" tIns="0" rIns="0" bIns="0" rtlCol="0" anchor="ctr"/>
          <a:lstStyle/>
          <a:p>
            <a:pPr marL="0" indent="0" algn="l">
              <a:buNone/>
            </a:pPr>
            <a:r>
              <a:rPr lang="en-US" sz="1150" b="1" dirty="0">
                <a:solidFill>
                  <a:srgbClr val="12263A"/>
                </a:solidFill>
                <a:latin typeface="Calibri" pitchFamily="34" charset="0"/>
                <a:ea typeface="Calibri" pitchFamily="34" charset="-122"/>
                <a:cs typeface="Calibri" pitchFamily="34" charset="-120"/>
              </a:rPr>
              <a:t>Date range</a:t>
            </a:r>
            <a:endParaRPr lang="en-US" sz="1150" dirty="0"/>
          </a:p>
        </p:txBody>
      </p:sp>
      <p:sp>
        <p:nvSpPr>
          <p:cNvPr id="23" name="Text 21"/>
          <p:cNvSpPr/>
          <p:nvPr/>
        </p:nvSpPr>
        <p:spPr>
          <a:xfrm>
            <a:off x="2011680" y="4443984"/>
            <a:ext cx="3977640" cy="457200"/>
          </a:xfrm>
          <a:prstGeom prst="rect">
            <a:avLst/>
          </a:prstGeom>
          <a:noFill/>
          <a:ln/>
        </p:spPr>
        <p:txBody>
          <a:bodyPr wrap="square" lIns="0" tIns="0" rIns="0" bIns="0" rtlCol="0" anchor="ctr"/>
          <a:lstStyle/>
          <a:p>
            <a:pPr marL="0" indent="0" algn="l">
              <a:buNone/>
            </a:pPr>
            <a:r>
              <a:rPr lang="en-US" sz="1150" dirty="0">
                <a:solidFill>
                  <a:srgbClr val="5F7183"/>
                </a:solidFill>
                <a:latin typeface="Calibri" pitchFamily="34" charset="0"/>
                <a:ea typeface="Calibri" pitchFamily="34" charset="-122"/>
                <a:cs typeface="Calibri" pitchFamily="34" charset="-120"/>
              </a:rPr>
              <a:t>14 Aug 2024 – 13 Aug 2026</a:t>
            </a:r>
            <a:endParaRPr lang="en-US" sz="1150" dirty="0"/>
          </a:p>
        </p:txBody>
      </p:sp>
      <p:sp>
        <p:nvSpPr>
          <p:cNvPr id="24" name="Text 22"/>
          <p:cNvSpPr/>
          <p:nvPr/>
        </p:nvSpPr>
        <p:spPr>
          <a:xfrm>
            <a:off x="457200" y="5029200"/>
            <a:ext cx="5669280" cy="914400"/>
          </a:xfrm>
          <a:prstGeom prst="rect">
            <a:avLst/>
          </a:prstGeom>
          <a:noFill/>
          <a:ln/>
        </p:spPr>
        <p:txBody>
          <a:bodyPr wrap="square" lIns="0" tIns="0" rIns="0" bIns="0" rtlCol="0" anchor="t"/>
          <a:lstStyle/>
          <a:p>
            <a:pPr marL="0" indent="0" algn="l">
              <a:lnSpc>
                <a:spcPct val="115000"/>
              </a:lnSpc>
              <a:buNone/>
            </a:pPr>
            <a:r>
              <a:rPr lang="en-US" sz="1150" b="1" dirty="0">
                <a:solidFill>
                  <a:srgbClr val="12263A"/>
                </a:solidFill>
                <a:latin typeface="Calibri" pitchFamily="34" charset="0"/>
                <a:ea typeface="Calibri" pitchFamily="34" charset="-122"/>
                <a:cs typeface="Calibri" pitchFamily="34" charset="-120"/>
              </a:rPr>
              <a:t>Main fields  </a:t>
            </a:r>
            <a:r>
              <a:rPr lang="en-US" sz="1150" dirty="0">
                <a:solidFill>
                  <a:srgbClr val="5F7183"/>
                </a:solidFill>
                <a:latin typeface="Calibri" pitchFamily="34" charset="0"/>
                <a:ea typeface="Calibri" pitchFamily="34" charset="-122"/>
                <a:cs typeface="Calibri" pitchFamily="34" charset="-120"/>
              </a:rPr>
              <a:t>Location ID · sensing date · hour of day · two directional counts · total pedestrian count · sensor name · latitude and longitude</a:t>
            </a:r>
            <a:endParaRPr lang="en-US" sz="1150" dirty="0"/>
          </a:p>
        </p:txBody>
      </p:sp>
      <p:sp>
        <p:nvSpPr>
          <p:cNvPr id="25" name="Text 23"/>
          <p:cNvSpPr/>
          <p:nvPr/>
        </p:nvSpPr>
        <p:spPr>
          <a:xfrm>
            <a:off x="6492240" y="1536192"/>
            <a:ext cx="5239512" cy="274320"/>
          </a:xfrm>
          <a:prstGeom prst="rect">
            <a:avLst/>
          </a:prstGeom>
          <a:noFill/>
          <a:ln/>
        </p:spPr>
        <p:txBody>
          <a:bodyPr wrap="square" lIns="0" tIns="0" rIns="0" bIns="0" rtlCol="0" anchor="ctr"/>
          <a:lstStyle/>
          <a:p>
            <a:pPr marL="0" indent="0">
              <a:buNone/>
            </a:pPr>
            <a:r>
              <a:rPr lang="en-US" sz="1400" b="1" dirty="0">
                <a:solidFill>
                  <a:srgbClr val="12263A"/>
                </a:solidFill>
                <a:latin typeface="Cambria" pitchFamily="34" charset="0"/>
                <a:ea typeface="Cambria" pitchFamily="34" charset="-122"/>
                <a:cs typeface="Cambria" pitchFamily="34" charset="-120"/>
              </a:rPr>
              <a:t>How the data moves</a:t>
            </a:r>
            <a:endParaRPr lang="en-US" sz="1400" dirty="0"/>
          </a:p>
        </p:txBody>
      </p:sp>
      <p:sp>
        <p:nvSpPr>
          <p:cNvPr id="26" name="Shape 24"/>
          <p:cNvSpPr/>
          <p:nvPr/>
        </p:nvSpPr>
        <p:spPr>
          <a:xfrm>
            <a:off x="6492240" y="1883664"/>
            <a:ext cx="5239512" cy="1783080"/>
          </a:xfrm>
          <a:prstGeom prst="roundRect">
            <a:avLst>
              <a:gd name="adj" fmla="val 3077"/>
            </a:avLst>
          </a:prstGeom>
          <a:solidFill>
            <a:srgbClr val="EEF2F6"/>
          </a:solidFill>
          <a:ln w="12700">
            <a:solidFill>
              <a:srgbClr val="D5DCE3"/>
            </a:solidFill>
            <a:prstDash val="solid"/>
          </a:ln>
        </p:spPr>
      </p:sp>
      <p:sp>
        <p:nvSpPr>
          <p:cNvPr id="27" name="Text 25"/>
          <p:cNvSpPr/>
          <p:nvPr/>
        </p:nvSpPr>
        <p:spPr>
          <a:xfrm>
            <a:off x="6711696" y="2011680"/>
            <a:ext cx="4800600" cy="256032"/>
          </a:xfrm>
          <a:prstGeom prst="rect">
            <a:avLst/>
          </a:prstGeom>
          <a:noFill/>
          <a:ln/>
        </p:spPr>
        <p:txBody>
          <a:bodyPr wrap="square" lIns="0" tIns="0" rIns="0" bIns="0" rtlCol="0" anchor="ctr"/>
          <a:lstStyle/>
          <a:p>
            <a:pPr marL="0" indent="0" algn="l">
              <a:buNone/>
            </a:pPr>
            <a:r>
              <a:rPr lang="en-US" sz="950" b="1" kern="0" spc="110" dirty="0">
                <a:solidFill>
                  <a:srgbClr val="12263A"/>
                </a:solidFill>
                <a:latin typeface="Calibri" pitchFamily="34" charset="0"/>
                <a:ea typeface="Calibri" pitchFamily="34" charset="-122"/>
                <a:cs typeface="Calibri" pitchFamily="34" charset="-120"/>
              </a:rPr>
              <a:t>BATCH  ·  MANUAL</a:t>
            </a:r>
            <a:endParaRPr lang="en-US" sz="950" dirty="0"/>
          </a:p>
        </p:txBody>
      </p:sp>
      <p:sp>
        <p:nvSpPr>
          <p:cNvPr id="28" name="Text 26"/>
          <p:cNvSpPr/>
          <p:nvPr/>
        </p:nvSpPr>
        <p:spPr>
          <a:xfrm>
            <a:off x="6711696" y="2286000"/>
            <a:ext cx="4800600" cy="365760"/>
          </a:xfrm>
          <a:prstGeom prst="rect">
            <a:avLst/>
          </a:prstGeom>
          <a:noFill/>
          <a:ln/>
        </p:spPr>
        <p:txBody>
          <a:bodyPr wrap="square" lIns="0" tIns="0" rIns="0" bIns="0" rtlCol="0" anchor="ctr"/>
          <a:lstStyle/>
          <a:p>
            <a:pPr marL="0" indent="0" algn="l">
              <a:buNone/>
            </a:pPr>
            <a:r>
              <a:rPr lang="en-US" sz="1350" b="1" dirty="0">
                <a:solidFill>
                  <a:srgbClr val="12263A"/>
                </a:solidFill>
                <a:latin typeface="Cambria" pitchFamily="34" charset="0"/>
                <a:ea typeface="Cambria" pitchFamily="34" charset="-122"/>
                <a:cs typeface="Cambria" pitchFamily="34" charset="-120"/>
              </a:rPr>
              <a:t>CSV → Amazon S3 → Snowflake</a:t>
            </a:r>
            <a:endParaRPr lang="en-US" sz="1350" dirty="0"/>
          </a:p>
        </p:txBody>
      </p:sp>
      <p:sp>
        <p:nvSpPr>
          <p:cNvPr id="29" name="Text 27"/>
          <p:cNvSpPr/>
          <p:nvPr/>
        </p:nvSpPr>
        <p:spPr>
          <a:xfrm>
            <a:off x="6711696" y="2688336"/>
            <a:ext cx="4800600" cy="868680"/>
          </a:xfrm>
          <a:prstGeom prst="rect">
            <a:avLst/>
          </a:prstGeom>
          <a:noFill/>
          <a:ln/>
        </p:spPr>
        <p:txBody>
          <a:bodyPr wrap="square" lIns="0" tIns="0" rIns="0" bIns="0" rtlCol="0" anchor="t"/>
          <a:lstStyle/>
          <a:p>
            <a:pPr marL="0" indent="0" algn="l">
              <a:lnSpc>
                <a:spcPct val="112000"/>
              </a:lnSpc>
              <a:buNone/>
            </a:pPr>
            <a:r>
              <a:rPr lang="en-US" sz="1100" dirty="0">
                <a:solidFill>
                  <a:srgbClr val="5F7183"/>
                </a:solidFill>
                <a:latin typeface="Calibri" pitchFamily="34" charset="0"/>
                <a:ea typeface="Calibri" pitchFamily="34" charset="-122"/>
                <a:cs typeface="Calibri" pitchFamily="34" charset="-120"/>
              </a:rPr>
              <a:t>The file is downloaded from the City of Melbourne portal, uploaded to the S3 bucket and loaded into Snowflake with COPY INTO. This ran once — it is not continuous synchronisation.</a:t>
            </a:r>
            <a:endParaRPr lang="en-US" sz="1100" dirty="0"/>
          </a:p>
        </p:txBody>
      </p:sp>
      <p:sp>
        <p:nvSpPr>
          <p:cNvPr id="30" name="Shape 28"/>
          <p:cNvSpPr/>
          <p:nvPr/>
        </p:nvSpPr>
        <p:spPr>
          <a:xfrm>
            <a:off x="6492240" y="3840480"/>
            <a:ext cx="5239512" cy="1783080"/>
          </a:xfrm>
          <a:prstGeom prst="roundRect">
            <a:avLst>
              <a:gd name="adj" fmla="val 3077"/>
            </a:avLst>
          </a:prstGeom>
          <a:solidFill>
            <a:srgbClr val="FDEDE7"/>
          </a:solidFill>
          <a:ln w="12700">
            <a:solidFill>
              <a:srgbClr val="F0BBA8"/>
            </a:solidFill>
            <a:prstDash val="solid"/>
          </a:ln>
        </p:spPr>
      </p:sp>
      <p:sp>
        <p:nvSpPr>
          <p:cNvPr id="31" name="Text 29"/>
          <p:cNvSpPr/>
          <p:nvPr/>
        </p:nvSpPr>
        <p:spPr>
          <a:xfrm>
            <a:off x="6711696" y="3968496"/>
            <a:ext cx="4800600" cy="256032"/>
          </a:xfrm>
          <a:prstGeom prst="rect">
            <a:avLst/>
          </a:prstGeom>
          <a:noFill/>
          <a:ln/>
        </p:spPr>
        <p:txBody>
          <a:bodyPr wrap="square" lIns="0" tIns="0" rIns="0" bIns="0" rtlCol="0" anchor="ctr"/>
          <a:lstStyle/>
          <a:p>
            <a:pPr marL="0" indent="0" algn="l">
              <a:buNone/>
            </a:pPr>
            <a:r>
              <a:rPr lang="en-US" sz="950" b="1" kern="0" spc="110" dirty="0">
                <a:solidFill>
                  <a:srgbClr val="E4572E"/>
                </a:solidFill>
                <a:latin typeface="Calibri" pitchFamily="34" charset="0"/>
                <a:ea typeface="Calibri" pitchFamily="34" charset="-122"/>
                <a:cs typeface="Calibri" pitchFamily="34" charset="-120"/>
              </a:rPr>
              <a:t>LIVE  ·  ON DEMAND</a:t>
            </a:r>
            <a:endParaRPr lang="en-US" sz="950" dirty="0"/>
          </a:p>
        </p:txBody>
      </p:sp>
      <p:sp>
        <p:nvSpPr>
          <p:cNvPr id="32" name="Text 30"/>
          <p:cNvSpPr/>
          <p:nvPr/>
        </p:nvSpPr>
        <p:spPr>
          <a:xfrm>
            <a:off x="6711696" y="4242816"/>
            <a:ext cx="4800600" cy="365760"/>
          </a:xfrm>
          <a:prstGeom prst="rect">
            <a:avLst/>
          </a:prstGeom>
          <a:noFill/>
          <a:ln/>
        </p:spPr>
        <p:txBody>
          <a:bodyPr wrap="square" lIns="0" tIns="0" rIns="0" bIns="0" rtlCol="0" anchor="ctr"/>
          <a:lstStyle/>
          <a:p>
            <a:pPr marL="0" indent="0" algn="l">
              <a:buNone/>
            </a:pPr>
            <a:r>
              <a:rPr lang="en-US" sz="1350" b="1" dirty="0">
                <a:solidFill>
                  <a:srgbClr val="12263A"/>
                </a:solidFill>
                <a:latin typeface="Cambria" pitchFamily="34" charset="0"/>
                <a:ea typeface="Cambria" pitchFamily="34" charset="-122"/>
                <a:cs typeface="Cambria" pitchFamily="34" charset="-120"/>
              </a:rPr>
              <a:t>Tableau Cloud → Snowflake ANALYTICS view</a:t>
            </a:r>
            <a:endParaRPr lang="en-US" sz="1350" dirty="0"/>
          </a:p>
        </p:txBody>
      </p:sp>
      <p:sp>
        <p:nvSpPr>
          <p:cNvPr id="33" name="Text 31"/>
          <p:cNvSpPr/>
          <p:nvPr/>
        </p:nvSpPr>
        <p:spPr>
          <a:xfrm>
            <a:off x="6711696" y="4645152"/>
            <a:ext cx="4800600" cy="868680"/>
          </a:xfrm>
          <a:prstGeom prst="rect">
            <a:avLst/>
          </a:prstGeom>
          <a:noFill/>
          <a:ln/>
        </p:spPr>
        <p:txBody>
          <a:bodyPr wrap="square" lIns="0" tIns="0" rIns="0" bIns="0" rtlCol="0" anchor="t"/>
          <a:lstStyle/>
          <a:p>
            <a:pPr marL="0" indent="0" algn="l">
              <a:lnSpc>
                <a:spcPct val="112000"/>
              </a:lnSpc>
              <a:buNone/>
            </a:pPr>
            <a:r>
              <a:rPr lang="en-US" sz="1100" dirty="0">
                <a:solidFill>
                  <a:srgbClr val="5F7183"/>
                </a:solidFill>
                <a:latin typeface="Calibri" pitchFamily="34" charset="0"/>
                <a:ea typeface="Calibri" pitchFamily="34" charset="-122"/>
                <a:cs typeface="Calibri" pitchFamily="34" charset="-120"/>
              </a:rPr>
              <a:t>Tableau uses a live connection rather than an extract, so every filter, hover and drill-down issues a fresh query against PEDESTRIAN_COUNTS_CLEAN.</a:t>
            </a:r>
            <a:endParaRPr lang="en-US" sz="1100" dirty="0"/>
          </a:p>
        </p:txBody>
      </p:sp>
      <p:sp>
        <p:nvSpPr>
          <p:cNvPr id="34" name="Text 32"/>
          <p:cNvSpPr/>
          <p:nvPr/>
        </p:nvSpPr>
        <p:spPr>
          <a:xfrm>
            <a:off x="6492240" y="5852160"/>
            <a:ext cx="5239512" cy="365760"/>
          </a:xfrm>
          <a:prstGeom prst="rect">
            <a:avLst/>
          </a:prstGeom>
          <a:noFill/>
          <a:ln/>
        </p:spPr>
        <p:txBody>
          <a:bodyPr wrap="square" lIns="0" tIns="0" rIns="0" bIns="0" rtlCol="0" anchor="t"/>
          <a:lstStyle/>
          <a:p>
            <a:pPr marL="0" indent="0" algn="l">
              <a:buNone/>
            </a:pPr>
            <a:r>
              <a:rPr lang="en-US" sz="850" i="1" dirty="0">
                <a:solidFill>
                  <a:srgbClr val="8494A3"/>
                </a:solidFill>
                <a:latin typeface="Calibri" pitchFamily="34" charset="0"/>
                <a:ea typeface="Calibri" pitchFamily="34" charset="-122"/>
                <a:cs typeface="Calibri" pitchFamily="34" charset="-120"/>
              </a:rPr>
              <a:t>Source: City of Melbourne Open Data, Pedestrian Counting System (counts per hour). Record counts verified in Snowflake.</a:t>
            </a:r>
            <a:endParaRPr lang="en-US" sz="850" dirty="0"/>
          </a:p>
        </p:txBody>
      </p:sp>
      <p:sp>
        <p:nvSpPr>
          <p:cNvPr id="35" name="Text 33"/>
          <p:cNvSpPr/>
          <p:nvPr/>
        </p:nvSpPr>
        <p:spPr>
          <a:xfrm>
            <a:off x="457200" y="6400800"/>
            <a:ext cx="7315200" cy="274320"/>
          </a:xfrm>
          <a:prstGeom prst="rect">
            <a:avLst/>
          </a:prstGeom>
          <a:noFill/>
          <a:ln/>
        </p:spPr>
        <p:txBody>
          <a:bodyPr wrap="square" lIns="0" tIns="0" rIns="0" bIns="0" rtlCol="0" anchor="ctr"/>
          <a:lstStyle/>
          <a:p>
            <a:pPr marL="0" indent="0" algn="l">
              <a:buNone/>
            </a:pPr>
            <a:r>
              <a:rPr lang="en-US" sz="900" dirty="0">
                <a:solidFill>
                  <a:srgbClr val="5F7183"/>
                </a:solidFill>
                <a:latin typeface="Calibri" pitchFamily="34" charset="0"/>
                <a:ea typeface="Calibri" pitchFamily="34" charset="-122"/>
                <a:cs typeface="Calibri" pitchFamily="34" charset="-120"/>
              </a:rPr>
              <a:t>NIT2202 Big Data  ·  Team Presentation</a:t>
            </a:r>
            <a:endParaRPr lang="en-US" sz="900" dirty="0"/>
          </a:p>
        </p:txBody>
      </p:sp>
      <p:sp>
        <p:nvSpPr>
          <p:cNvPr id="36" name="Text 34"/>
          <p:cNvSpPr/>
          <p:nvPr/>
        </p:nvSpPr>
        <p:spPr>
          <a:xfrm>
            <a:off x="11247120" y="6400800"/>
            <a:ext cx="502920" cy="274320"/>
          </a:xfrm>
          <a:prstGeom prst="rect">
            <a:avLst/>
          </a:prstGeom>
          <a:noFill/>
          <a:ln/>
        </p:spPr>
        <p:txBody>
          <a:bodyPr wrap="square" lIns="0" tIns="0" rIns="0" bIns="0" rtlCol="0" anchor="ctr"/>
          <a:lstStyle/>
          <a:p>
            <a:pPr marL="0" indent="0" algn="r">
              <a:buNone/>
            </a:pPr>
            <a:r>
              <a:rPr lang="en-US" sz="900" dirty="0">
                <a:solidFill>
                  <a:srgbClr val="5F7183"/>
                </a:solidFill>
                <a:latin typeface="Calibri" pitchFamily="34" charset="0"/>
                <a:ea typeface="Calibri" pitchFamily="34" charset="-122"/>
                <a:cs typeface="Calibri" pitchFamily="34" charset="-120"/>
              </a:rPr>
              <a:t>3</a:t>
            </a:r>
            <a:endParaRPr lang="en-US" sz="900" dirty="0"/>
          </a:p>
        </p:txBody>
      </p:sp>
    </p:spTree>
    <p:extLst>
      <p:ext uri="{BB962C8B-B14F-4D97-AF65-F5344CB8AC3E}">
        <p14:creationId xmlns:p14="http://schemas.microsoft.com/office/powerpoint/2010/main" val="1127739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18872" cy="118872"/>
          </a:xfrm>
          <a:prstGeom prst="rect">
            <a:avLst/>
          </a:prstGeom>
          <a:solidFill>
            <a:srgbClr val="E4572E"/>
          </a:solidFill>
          <a:ln w="12700">
            <a:solidFill>
              <a:srgbClr val="E4572E"/>
            </a:solidFill>
            <a:prstDash val="solid"/>
          </a:ln>
        </p:spPr>
      </p:sp>
      <p:sp>
        <p:nvSpPr>
          <p:cNvPr id="3" name="Text 1"/>
          <p:cNvSpPr/>
          <p:nvPr/>
        </p:nvSpPr>
        <p:spPr>
          <a:xfrm>
            <a:off x="676656" y="493776"/>
            <a:ext cx="8229600" cy="274320"/>
          </a:xfrm>
          <a:prstGeom prst="rect">
            <a:avLst/>
          </a:prstGeom>
          <a:noFill/>
          <a:ln/>
        </p:spPr>
        <p:txBody>
          <a:bodyPr wrap="square" lIns="0" tIns="0" rIns="0" bIns="0" rtlCol="0" anchor="ctr"/>
          <a:lstStyle/>
          <a:p>
            <a:pPr marL="0" indent="0">
              <a:buNone/>
            </a:pPr>
            <a:r>
              <a:rPr lang="en-US" sz="950" b="1" kern="0" spc="120" dirty="0">
                <a:solidFill>
                  <a:srgbClr val="E4572E"/>
                </a:solidFill>
                <a:latin typeface="Calibri" pitchFamily="34" charset="0"/>
                <a:ea typeface="Calibri" pitchFamily="34" charset="-122"/>
                <a:cs typeface="Calibri" pitchFamily="34" charset="-120"/>
              </a:rPr>
              <a:t>PROJECT 2 · AUDIENCE</a:t>
            </a:r>
            <a:endParaRPr lang="en-US" sz="950" dirty="0"/>
          </a:p>
        </p:txBody>
      </p:sp>
      <p:sp>
        <p:nvSpPr>
          <p:cNvPr id="4" name="Text 2"/>
          <p:cNvSpPr/>
          <p:nvPr/>
        </p:nvSpPr>
        <p:spPr>
          <a:xfrm>
            <a:off x="457200" y="841248"/>
            <a:ext cx="11247120" cy="566928"/>
          </a:xfrm>
          <a:prstGeom prst="rect">
            <a:avLst/>
          </a:prstGeom>
          <a:noFill/>
          <a:ln/>
        </p:spPr>
        <p:txBody>
          <a:bodyPr wrap="square" lIns="0" tIns="0" rIns="0" bIns="0" rtlCol="0" anchor="ctr"/>
          <a:lstStyle/>
          <a:p>
            <a:pPr marL="0" indent="0">
              <a:buNone/>
            </a:pPr>
            <a:r>
              <a:rPr lang="en-US" sz="3000" b="1" dirty="0">
                <a:solidFill>
                  <a:srgbClr val="12263A"/>
                </a:solidFill>
                <a:latin typeface="Cambria" pitchFamily="34" charset="0"/>
                <a:ea typeface="Cambria" pitchFamily="34" charset="-122"/>
                <a:cs typeface="Cambria" pitchFamily="34" charset="-120"/>
              </a:rPr>
              <a:t>Target Consumers</a:t>
            </a:r>
            <a:endParaRPr lang="en-US" sz="3000" dirty="0"/>
          </a:p>
        </p:txBody>
      </p:sp>
      <p:sp>
        <p:nvSpPr>
          <p:cNvPr id="5" name="Text 3"/>
          <p:cNvSpPr/>
          <p:nvPr/>
        </p:nvSpPr>
        <p:spPr>
          <a:xfrm>
            <a:off x="457200" y="1463040"/>
            <a:ext cx="11274552" cy="320040"/>
          </a:xfrm>
          <a:prstGeom prst="rect">
            <a:avLst/>
          </a:prstGeom>
          <a:noFill/>
          <a:ln/>
        </p:spPr>
        <p:txBody>
          <a:bodyPr wrap="square" lIns="0" tIns="0" rIns="0" bIns="0" rtlCol="0" anchor="ctr"/>
          <a:lstStyle/>
          <a:p>
            <a:pPr marL="0" indent="0" algn="l">
              <a:buNone/>
            </a:pPr>
            <a:r>
              <a:rPr lang="en-US" sz="1400" i="1" dirty="0">
                <a:solidFill>
                  <a:srgbClr val="5F7183"/>
                </a:solidFill>
                <a:latin typeface="Cambria" pitchFamily="34" charset="0"/>
                <a:ea typeface="Cambria" pitchFamily="34" charset="-122"/>
                <a:cs typeface="Cambria" pitchFamily="34" charset="-120"/>
              </a:rPr>
              <a:t>Who uses the dashboard, and the decision it supports</a:t>
            </a:r>
            <a:endParaRPr lang="en-US" sz="1400" dirty="0"/>
          </a:p>
        </p:txBody>
      </p:sp>
      <p:sp>
        <p:nvSpPr>
          <p:cNvPr id="6" name="Shape 4"/>
          <p:cNvSpPr/>
          <p:nvPr/>
        </p:nvSpPr>
        <p:spPr>
          <a:xfrm>
            <a:off x="457200" y="1920240"/>
            <a:ext cx="5532120" cy="1874520"/>
          </a:xfrm>
          <a:prstGeom prst="roundRect">
            <a:avLst>
              <a:gd name="adj" fmla="val 2927"/>
            </a:avLst>
          </a:prstGeom>
          <a:solidFill>
            <a:srgbClr val="EEF2F6"/>
          </a:solidFill>
          <a:ln w="15875">
            <a:solidFill>
              <a:srgbClr val="D5DCE3"/>
            </a:solidFill>
            <a:prstDash val="solid"/>
          </a:ln>
        </p:spPr>
      </p:sp>
      <p:sp>
        <p:nvSpPr>
          <p:cNvPr id="7" name="Shape 5"/>
          <p:cNvSpPr/>
          <p:nvPr/>
        </p:nvSpPr>
        <p:spPr>
          <a:xfrm>
            <a:off x="658368" y="2176272"/>
            <a:ext cx="100584" cy="100584"/>
          </a:xfrm>
          <a:prstGeom prst="rect">
            <a:avLst/>
          </a:prstGeom>
          <a:solidFill>
            <a:srgbClr val="E4572E"/>
          </a:solidFill>
          <a:ln w="12700">
            <a:solidFill>
              <a:srgbClr val="E4572E"/>
            </a:solidFill>
            <a:prstDash val="solid"/>
          </a:ln>
        </p:spPr>
      </p:sp>
      <p:sp>
        <p:nvSpPr>
          <p:cNvPr id="8" name="Text 6"/>
          <p:cNvSpPr/>
          <p:nvPr/>
        </p:nvSpPr>
        <p:spPr>
          <a:xfrm>
            <a:off x="859536" y="2066544"/>
            <a:ext cx="4928616" cy="310896"/>
          </a:xfrm>
          <a:prstGeom prst="rect">
            <a:avLst/>
          </a:prstGeom>
          <a:noFill/>
          <a:ln/>
        </p:spPr>
        <p:txBody>
          <a:bodyPr wrap="square" lIns="0" tIns="0" rIns="0" bIns="0" rtlCol="0" anchor="ctr"/>
          <a:lstStyle/>
          <a:p>
            <a:pPr marL="0" indent="0" algn="l">
              <a:buNone/>
            </a:pPr>
            <a:r>
              <a:rPr lang="en-US" sz="1450" b="1" dirty="0">
                <a:solidFill>
                  <a:srgbClr val="12263A"/>
                </a:solidFill>
                <a:latin typeface="Cambria" pitchFamily="34" charset="0"/>
                <a:ea typeface="Cambria" pitchFamily="34" charset="-122"/>
                <a:cs typeface="Cambria" pitchFamily="34" charset="-120"/>
              </a:rPr>
              <a:t>Transport and urban planning</a:t>
            </a:r>
            <a:endParaRPr lang="en-US" sz="1450" dirty="0"/>
          </a:p>
        </p:txBody>
      </p:sp>
      <p:sp>
        <p:nvSpPr>
          <p:cNvPr id="9" name="Text 7"/>
          <p:cNvSpPr/>
          <p:nvPr/>
        </p:nvSpPr>
        <p:spPr>
          <a:xfrm>
            <a:off x="859536" y="2377440"/>
            <a:ext cx="4928616" cy="237744"/>
          </a:xfrm>
          <a:prstGeom prst="rect">
            <a:avLst/>
          </a:prstGeom>
          <a:noFill/>
          <a:ln/>
        </p:spPr>
        <p:txBody>
          <a:bodyPr wrap="square" lIns="0" tIns="0" rIns="0" bIns="0" rtlCol="0" anchor="ctr"/>
          <a:lstStyle/>
          <a:p>
            <a:pPr marL="0" indent="0" algn="l">
              <a:buNone/>
            </a:pPr>
            <a:r>
              <a:rPr lang="en-US" sz="1000" dirty="0">
                <a:solidFill>
                  <a:srgbClr val="E4572E"/>
                </a:solidFill>
                <a:latin typeface="Calibri" pitchFamily="34" charset="0"/>
                <a:ea typeface="Calibri" pitchFamily="34" charset="-122"/>
                <a:cs typeface="Calibri" pitchFamily="34" charset="-120"/>
              </a:rPr>
              <a:t>City of Melbourne</a:t>
            </a:r>
            <a:endParaRPr lang="en-US" sz="1000" dirty="0"/>
          </a:p>
        </p:txBody>
      </p:sp>
      <p:sp>
        <p:nvSpPr>
          <p:cNvPr id="10" name="Text 8"/>
          <p:cNvSpPr/>
          <p:nvPr/>
        </p:nvSpPr>
        <p:spPr>
          <a:xfrm>
            <a:off x="859536" y="2651760"/>
            <a:ext cx="4928616" cy="502920"/>
          </a:xfrm>
          <a:prstGeom prst="rect">
            <a:avLst/>
          </a:prstGeom>
          <a:noFill/>
          <a:ln/>
        </p:spPr>
        <p:txBody>
          <a:bodyPr wrap="square" lIns="0" tIns="0" rIns="0" bIns="0" rtlCol="0" anchor="t"/>
          <a:lstStyle/>
          <a:p>
            <a:pPr marL="0" indent="0" algn="l">
              <a:lnSpc>
                <a:spcPct val="110000"/>
              </a:lnSpc>
              <a:buNone/>
            </a:pPr>
            <a:r>
              <a:rPr lang="en-US" sz="1100" dirty="0">
                <a:solidFill>
                  <a:srgbClr val="5F7183"/>
                </a:solidFill>
                <a:latin typeface="Calibri" pitchFamily="34" charset="0"/>
                <a:ea typeface="Calibri" pitchFamily="34" charset="-122"/>
                <a:cs typeface="Calibri" pitchFamily="34" charset="-120"/>
              </a:rPr>
              <a:t>Identify sustained high-demand locations from the sensor map and monthly trend.</a:t>
            </a:r>
            <a:endParaRPr lang="en-US" sz="1100" dirty="0"/>
          </a:p>
        </p:txBody>
      </p:sp>
      <p:sp>
        <p:nvSpPr>
          <p:cNvPr id="11" name="Text 9"/>
          <p:cNvSpPr/>
          <p:nvPr/>
        </p:nvSpPr>
        <p:spPr>
          <a:xfrm>
            <a:off x="859536" y="3218688"/>
            <a:ext cx="4928616" cy="548640"/>
          </a:xfrm>
          <a:prstGeom prst="rect">
            <a:avLst/>
          </a:prstGeom>
          <a:noFill/>
          <a:ln/>
        </p:spPr>
        <p:txBody>
          <a:bodyPr wrap="square" lIns="0" tIns="0" rIns="0" bIns="0" rtlCol="0" anchor="t"/>
          <a:lstStyle/>
          <a:p>
            <a:pPr marL="0" indent="0" algn="l">
              <a:lnSpc>
                <a:spcPct val="110000"/>
              </a:lnSpc>
              <a:buNone/>
            </a:pPr>
            <a:r>
              <a:rPr lang="en-US" sz="1100" b="1" dirty="0">
                <a:solidFill>
                  <a:srgbClr val="12263A"/>
                </a:solidFill>
                <a:latin typeface="Calibri" pitchFamily="34" charset="0"/>
                <a:ea typeface="Calibri" pitchFamily="34" charset="-122"/>
                <a:cs typeface="Calibri" pitchFamily="34" charset="-120"/>
              </a:rPr>
              <a:t>Decision supported:  </a:t>
            </a:r>
            <a:r>
              <a:rPr lang="en-US" sz="1100" dirty="0">
                <a:solidFill>
                  <a:srgbClr val="5F7183"/>
                </a:solidFill>
                <a:latin typeface="Calibri" pitchFamily="34" charset="0"/>
                <a:ea typeface="Calibri" pitchFamily="34" charset="-122"/>
                <a:cs typeface="Calibri" pitchFamily="34" charset="-120"/>
              </a:rPr>
              <a:t>Where to widen footpaths, add crossings or upgrade pedestrian infrastructure.</a:t>
            </a:r>
            <a:endParaRPr lang="en-US" sz="1100" dirty="0"/>
          </a:p>
        </p:txBody>
      </p:sp>
      <p:sp>
        <p:nvSpPr>
          <p:cNvPr id="12" name="Shape 10"/>
          <p:cNvSpPr/>
          <p:nvPr/>
        </p:nvSpPr>
        <p:spPr>
          <a:xfrm>
            <a:off x="6199632" y="1920240"/>
            <a:ext cx="5532120" cy="1874520"/>
          </a:xfrm>
          <a:prstGeom prst="roundRect">
            <a:avLst>
              <a:gd name="adj" fmla="val 2927"/>
            </a:avLst>
          </a:prstGeom>
          <a:solidFill>
            <a:srgbClr val="EEF2F6"/>
          </a:solidFill>
          <a:ln w="15875">
            <a:solidFill>
              <a:srgbClr val="D5DCE3"/>
            </a:solidFill>
            <a:prstDash val="solid"/>
          </a:ln>
        </p:spPr>
      </p:sp>
      <p:sp>
        <p:nvSpPr>
          <p:cNvPr id="13" name="Shape 11"/>
          <p:cNvSpPr/>
          <p:nvPr/>
        </p:nvSpPr>
        <p:spPr>
          <a:xfrm>
            <a:off x="6400800" y="2176272"/>
            <a:ext cx="100584" cy="100584"/>
          </a:xfrm>
          <a:prstGeom prst="rect">
            <a:avLst/>
          </a:prstGeom>
          <a:solidFill>
            <a:srgbClr val="E4572E"/>
          </a:solidFill>
          <a:ln w="12700">
            <a:solidFill>
              <a:srgbClr val="E4572E"/>
            </a:solidFill>
            <a:prstDash val="solid"/>
          </a:ln>
        </p:spPr>
      </p:sp>
      <p:sp>
        <p:nvSpPr>
          <p:cNvPr id="14" name="Text 12"/>
          <p:cNvSpPr/>
          <p:nvPr/>
        </p:nvSpPr>
        <p:spPr>
          <a:xfrm>
            <a:off x="6601968" y="2066544"/>
            <a:ext cx="4928616" cy="310896"/>
          </a:xfrm>
          <a:prstGeom prst="rect">
            <a:avLst/>
          </a:prstGeom>
          <a:noFill/>
          <a:ln/>
        </p:spPr>
        <p:txBody>
          <a:bodyPr wrap="square" lIns="0" tIns="0" rIns="0" bIns="0" rtlCol="0" anchor="ctr"/>
          <a:lstStyle/>
          <a:p>
            <a:pPr marL="0" indent="0" algn="l">
              <a:buNone/>
            </a:pPr>
            <a:r>
              <a:rPr lang="en-US" sz="1450" b="1" dirty="0">
                <a:solidFill>
                  <a:srgbClr val="12263A"/>
                </a:solidFill>
                <a:latin typeface="Cambria" pitchFamily="34" charset="0"/>
                <a:ea typeface="Cambria" pitchFamily="34" charset="-122"/>
                <a:cs typeface="Cambria" pitchFamily="34" charset="-120"/>
              </a:rPr>
              <a:t>City operations and events</a:t>
            </a:r>
            <a:endParaRPr lang="en-US" sz="1450" dirty="0"/>
          </a:p>
        </p:txBody>
      </p:sp>
      <p:sp>
        <p:nvSpPr>
          <p:cNvPr id="15" name="Text 13"/>
          <p:cNvSpPr/>
          <p:nvPr/>
        </p:nvSpPr>
        <p:spPr>
          <a:xfrm>
            <a:off x="6601968" y="2377440"/>
            <a:ext cx="4928616" cy="237744"/>
          </a:xfrm>
          <a:prstGeom prst="rect">
            <a:avLst/>
          </a:prstGeom>
          <a:noFill/>
          <a:ln/>
        </p:spPr>
        <p:txBody>
          <a:bodyPr wrap="square" lIns="0" tIns="0" rIns="0" bIns="0" rtlCol="0" anchor="ctr"/>
          <a:lstStyle/>
          <a:p>
            <a:pPr marL="0" indent="0" algn="l">
              <a:buNone/>
            </a:pPr>
            <a:r>
              <a:rPr lang="en-US" sz="1000" dirty="0">
                <a:solidFill>
                  <a:srgbClr val="E4572E"/>
                </a:solidFill>
                <a:latin typeface="Calibri" pitchFamily="34" charset="0"/>
                <a:ea typeface="Calibri" pitchFamily="34" charset="-122"/>
                <a:cs typeface="Calibri" pitchFamily="34" charset="-120"/>
              </a:rPr>
              <a:t>City of Melbourne</a:t>
            </a:r>
            <a:endParaRPr lang="en-US" sz="1000" dirty="0"/>
          </a:p>
        </p:txBody>
      </p:sp>
      <p:sp>
        <p:nvSpPr>
          <p:cNvPr id="16" name="Text 14"/>
          <p:cNvSpPr/>
          <p:nvPr/>
        </p:nvSpPr>
        <p:spPr>
          <a:xfrm>
            <a:off x="6601968" y="2651760"/>
            <a:ext cx="4928616" cy="502920"/>
          </a:xfrm>
          <a:prstGeom prst="rect">
            <a:avLst/>
          </a:prstGeom>
          <a:noFill/>
          <a:ln/>
        </p:spPr>
        <p:txBody>
          <a:bodyPr wrap="square" lIns="0" tIns="0" rIns="0" bIns="0" rtlCol="0" anchor="t"/>
          <a:lstStyle/>
          <a:p>
            <a:pPr marL="0" indent="0" algn="l">
              <a:lnSpc>
                <a:spcPct val="110000"/>
              </a:lnSpc>
              <a:buNone/>
            </a:pPr>
            <a:r>
              <a:rPr lang="en-US" sz="1100" dirty="0">
                <a:solidFill>
                  <a:srgbClr val="5F7183"/>
                </a:solidFill>
                <a:latin typeface="Calibri" pitchFamily="34" charset="0"/>
                <a:ea typeface="Calibri" pitchFamily="34" charset="-122"/>
                <a:cs typeface="Calibri" pitchFamily="34" charset="-120"/>
              </a:rPr>
              <a:t>Read peak periods from the day-and-hour heatmap, including the afternoon commute.</a:t>
            </a:r>
            <a:endParaRPr lang="en-US" sz="1100" dirty="0"/>
          </a:p>
        </p:txBody>
      </p:sp>
      <p:sp>
        <p:nvSpPr>
          <p:cNvPr id="17" name="Text 15"/>
          <p:cNvSpPr/>
          <p:nvPr/>
        </p:nvSpPr>
        <p:spPr>
          <a:xfrm>
            <a:off x="6601968" y="3218688"/>
            <a:ext cx="4928616" cy="548640"/>
          </a:xfrm>
          <a:prstGeom prst="rect">
            <a:avLst/>
          </a:prstGeom>
          <a:noFill/>
          <a:ln/>
        </p:spPr>
        <p:txBody>
          <a:bodyPr wrap="square" lIns="0" tIns="0" rIns="0" bIns="0" rtlCol="0" anchor="t"/>
          <a:lstStyle/>
          <a:p>
            <a:pPr marL="0" indent="0" algn="l">
              <a:lnSpc>
                <a:spcPct val="110000"/>
              </a:lnSpc>
              <a:buNone/>
            </a:pPr>
            <a:r>
              <a:rPr lang="en-US" sz="1100" b="1" dirty="0">
                <a:solidFill>
                  <a:srgbClr val="12263A"/>
                </a:solidFill>
                <a:latin typeface="Calibri" pitchFamily="34" charset="0"/>
                <a:ea typeface="Calibri" pitchFamily="34" charset="-122"/>
                <a:cs typeface="Calibri" pitchFamily="34" charset="-120"/>
              </a:rPr>
              <a:t>Decision supported:  </a:t>
            </a:r>
            <a:r>
              <a:rPr lang="en-US" sz="1100" dirty="0">
                <a:solidFill>
                  <a:srgbClr val="5F7183"/>
                </a:solidFill>
                <a:latin typeface="Calibri" pitchFamily="34" charset="0"/>
                <a:ea typeface="Calibri" pitchFamily="34" charset="-122"/>
                <a:cs typeface="Calibri" pitchFamily="34" charset="-120"/>
              </a:rPr>
              <a:t>When to roster staff, schedule works and position crowd-management resources.</a:t>
            </a:r>
            <a:endParaRPr lang="en-US" sz="1100" dirty="0"/>
          </a:p>
        </p:txBody>
      </p:sp>
      <p:sp>
        <p:nvSpPr>
          <p:cNvPr id="18" name="Shape 16"/>
          <p:cNvSpPr/>
          <p:nvPr/>
        </p:nvSpPr>
        <p:spPr>
          <a:xfrm>
            <a:off x="457200" y="3995928"/>
            <a:ext cx="5532120" cy="1874520"/>
          </a:xfrm>
          <a:prstGeom prst="roundRect">
            <a:avLst>
              <a:gd name="adj" fmla="val 2927"/>
            </a:avLst>
          </a:prstGeom>
          <a:solidFill>
            <a:srgbClr val="FFFFFF"/>
          </a:solidFill>
          <a:ln w="15875">
            <a:solidFill>
              <a:srgbClr val="D5DCE3"/>
            </a:solidFill>
            <a:prstDash val="solid"/>
          </a:ln>
        </p:spPr>
      </p:sp>
      <p:sp>
        <p:nvSpPr>
          <p:cNvPr id="19" name="Shape 17"/>
          <p:cNvSpPr/>
          <p:nvPr/>
        </p:nvSpPr>
        <p:spPr>
          <a:xfrm>
            <a:off x="658368" y="4251960"/>
            <a:ext cx="100584" cy="100584"/>
          </a:xfrm>
          <a:prstGeom prst="rect">
            <a:avLst/>
          </a:prstGeom>
          <a:solidFill>
            <a:srgbClr val="2A6F97"/>
          </a:solidFill>
          <a:ln w="12700">
            <a:solidFill>
              <a:srgbClr val="2A6F97"/>
            </a:solidFill>
            <a:prstDash val="solid"/>
          </a:ln>
        </p:spPr>
      </p:sp>
      <p:sp>
        <p:nvSpPr>
          <p:cNvPr id="20" name="Text 18"/>
          <p:cNvSpPr/>
          <p:nvPr/>
        </p:nvSpPr>
        <p:spPr>
          <a:xfrm>
            <a:off x="859536" y="4142232"/>
            <a:ext cx="4928616" cy="310896"/>
          </a:xfrm>
          <a:prstGeom prst="rect">
            <a:avLst/>
          </a:prstGeom>
          <a:noFill/>
          <a:ln/>
        </p:spPr>
        <p:txBody>
          <a:bodyPr wrap="square" lIns="0" tIns="0" rIns="0" bIns="0" rtlCol="0" anchor="ctr"/>
          <a:lstStyle/>
          <a:p>
            <a:pPr marL="0" indent="0" algn="l">
              <a:buNone/>
            </a:pPr>
            <a:r>
              <a:rPr lang="en-US" sz="1450" b="1" dirty="0">
                <a:solidFill>
                  <a:srgbClr val="12263A"/>
                </a:solidFill>
                <a:latin typeface="Cambria" pitchFamily="34" charset="0"/>
                <a:ea typeface="Cambria" pitchFamily="34" charset="-122"/>
                <a:cs typeface="Cambria" pitchFamily="34" charset="-120"/>
              </a:rPr>
              <a:t>Local businesses and retailers</a:t>
            </a:r>
            <a:endParaRPr lang="en-US" sz="1450" dirty="0"/>
          </a:p>
        </p:txBody>
      </p:sp>
      <p:sp>
        <p:nvSpPr>
          <p:cNvPr id="21" name="Text 19"/>
          <p:cNvSpPr/>
          <p:nvPr/>
        </p:nvSpPr>
        <p:spPr>
          <a:xfrm>
            <a:off x="859536" y="4453128"/>
            <a:ext cx="4928616" cy="237744"/>
          </a:xfrm>
          <a:prstGeom prst="rect">
            <a:avLst/>
          </a:prstGeom>
          <a:noFill/>
          <a:ln/>
        </p:spPr>
        <p:txBody>
          <a:bodyPr wrap="square" lIns="0" tIns="0" rIns="0" bIns="0" rtlCol="0" anchor="ctr"/>
          <a:lstStyle/>
          <a:p>
            <a:pPr marL="0" indent="0" algn="l">
              <a:buNone/>
            </a:pPr>
            <a:r>
              <a:rPr lang="en-US" sz="1000" dirty="0">
                <a:solidFill>
                  <a:srgbClr val="2A6F97"/>
                </a:solidFill>
                <a:latin typeface="Calibri" pitchFamily="34" charset="0"/>
                <a:ea typeface="Calibri" pitchFamily="34" charset="-122"/>
                <a:cs typeface="Calibri" pitchFamily="34" charset="-120"/>
              </a:rPr>
              <a:t>CBD traders</a:t>
            </a:r>
            <a:endParaRPr lang="en-US" sz="1000" dirty="0"/>
          </a:p>
        </p:txBody>
      </p:sp>
      <p:sp>
        <p:nvSpPr>
          <p:cNvPr id="22" name="Text 20"/>
          <p:cNvSpPr/>
          <p:nvPr/>
        </p:nvSpPr>
        <p:spPr>
          <a:xfrm>
            <a:off x="859536" y="4727448"/>
            <a:ext cx="4928616" cy="502920"/>
          </a:xfrm>
          <a:prstGeom prst="rect">
            <a:avLst/>
          </a:prstGeom>
          <a:noFill/>
          <a:ln/>
        </p:spPr>
        <p:txBody>
          <a:bodyPr wrap="square" lIns="0" tIns="0" rIns="0" bIns="0" rtlCol="0" anchor="t"/>
          <a:lstStyle/>
          <a:p>
            <a:pPr marL="0" indent="0" algn="l">
              <a:lnSpc>
                <a:spcPct val="110000"/>
              </a:lnSpc>
              <a:buNone/>
            </a:pPr>
            <a:r>
              <a:rPr lang="en-US" sz="1100" dirty="0">
                <a:solidFill>
                  <a:srgbClr val="5F7183"/>
                </a:solidFill>
                <a:latin typeface="Calibri" pitchFamily="34" charset="0"/>
                <a:ea typeface="Calibri" pitchFamily="34" charset="-122"/>
                <a:cs typeface="Calibri" pitchFamily="34" charset="-120"/>
              </a:rPr>
              <a:t>Compare footfall between sensor locations and across hours of the day.</a:t>
            </a:r>
            <a:endParaRPr lang="en-US" sz="1100" dirty="0"/>
          </a:p>
        </p:txBody>
      </p:sp>
      <p:sp>
        <p:nvSpPr>
          <p:cNvPr id="23" name="Text 21"/>
          <p:cNvSpPr/>
          <p:nvPr/>
        </p:nvSpPr>
        <p:spPr>
          <a:xfrm>
            <a:off x="859536" y="5294376"/>
            <a:ext cx="4928616" cy="548640"/>
          </a:xfrm>
          <a:prstGeom prst="rect">
            <a:avLst/>
          </a:prstGeom>
          <a:noFill/>
          <a:ln/>
        </p:spPr>
        <p:txBody>
          <a:bodyPr wrap="square" lIns="0" tIns="0" rIns="0" bIns="0" rtlCol="0" anchor="t"/>
          <a:lstStyle/>
          <a:p>
            <a:pPr marL="0" indent="0" algn="l">
              <a:lnSpc>
                <a:spcPct val="110000"/>
              </a:lnSpc>
              <a:buNone/>
            </a:pPr>
            <a:r>
              <a:rPr lang="en-US" sz="1100" b="1" dirty="0">
                <a:solidFill>
                  <a:srgbClr val="12263A"/>
                </a:solidFill>
                <a:latin typeface="Calibri" pitchFamily="34" charset="0"/>
                <a:ea typeface="Calibri" pitchFamily="34" charset="-122"/>
                <a:cs typeface="Calibri" pitchFamily="34" charset="-120"/>
              </a:rPr>
              <a:t>Decision supported:  </a:t>
            </a:r>
            <a:r>
              <a:rPr lang="en-US" sz="1100" dirty="0">
                <a:solidFill>
                  <a:srgbClr val="5F7183"/>
                </a:solidFill>
                <a:latin typeface="Calibri" pitchFamily="34" charset="0"/>
                <a:ea typeface="Calibri" pitchFamily="34" charset="-122"/>
                <a:cs typeface="Calibri" pitchFamily="34" charset="-120"/>
              </a:rPr>
              <a:t>Trading hours, staffing levels and where to site a shopfront or promotion.</a:t>
            </a:r>
            <a:endParaRPr lang="en-US" sz="1100" dirty="0"/>
          </a:p>
        </p:txBody>
      </p:sp>
      <p:sp>
        <p:nvSpPr>
          <p:cNvPr id="24" name="Shape 22"/>
          <p:cNvSpPr/>
          <p:nvPr/>
        </p:nvSpPr>
        <p:spPr>
          <a:xfrm>
            <a:off x="6199632" y="3995928"/>
            <a:ext cx="5532120" cy="1874520"/>
          </a:xfrm>
          <a:prstGeom prst="roundRect">
            <a:avLst>
              <a:gd name="adj" fmla="val 2927"/>
            </a:avLst>
          </a:prstGeom>
          <a:solidFill>
            <a:srgbClr val="FFFFFF"/>
          </a:solidFill>
          <a:ln w="15875">
            <a:solidFill>
              <a:srgbClr val="D5DCE3"/>
            </a:solidFill>
            <a:prstDash val="solid"/>
          </a:ln>
        </p:spPr>
      </p:sp>
      <p:sp>
        <p:nvSpPr>
          <p:cNvPr id="25" name="Shape 23"/>
          <p:cNvSpPr/>
          <p:nvPr/>
        </p:nvSpPr>
        <p:spPr>
          <a:xfrm>
            <a:off x="6400800" y="4251960"/>
            <a:ext cx="100584" cy="100584"/>
          </a:xfrm>
          <a:prstGeom prst="rect">
            <a:avLst/>
          </a:prstGeom>
          <a:solidFill>
            <a:srgbClr val="2A6F97"/>
          </a:solidFill>
          <a:ln w="12700">
            <a:solidFill>
              <a:srgbClr val="2A6F97"/>
            </a:solidFill>
            <a:prstDash val="solid"/>
          </a:ln>
        </p:spPr>
      </p:sp>
      <p:sp>
        <p:nvSpPr>
          <p:cNvPr id="26" name="Text 24"/>
          <p:cNvSpPr/>
          <p:nvPr/>
        </p:nvSpPr>
        <p:spPr>
          <a:xfrm>
            <a:off x="6601968" y="4142232"/>
            <a:ext cx="4928616" cy="310896"/>
          </a:xfrm>
          <a:prstGeom prst="rect">
            <a:avLst/>
          </a:prstGeom>
          <a:noFill/>
          <a:ln/>
        </p:spPr>
        <p:txBody>
          <a:bodyPr wrap="square" lIns="0" tIns="0" rIns="0" bIns="0" rtlCol="0" anchor="ctr"/>
          <a:lstStyle/>
          <a:p>
            <a:pPr marL="0" indent="0" algn="l">
              <a:buNone/>
            </a:pPr>
            <a:r>
              <a:rPr lang="en-US" sz="1450" b="1" dirty="0">
                <a:solidFill>
                  <a:srgbClr val="12263A"/>
                </a:solidFill>
                <a:latin typeface="Cambria" pitchFamily="34" charset="0"/>
                <a:ea typeface="Cambria" pitchFamily="34" charset="-122"/>
                <a:cs typeface="Cambria" pitchFamily="34" charset="-120"/>
              </a:rPr>
              <a:t>Researchers and policy analysts</a:t>
            </a:r>
            <a:endParaRPr lang="en-US" sz="1450" dirty="0"/>
          </a:p>
        </p:txBody>
      </p:sp>
      <p:sp>
        <p:nvSpPr>
          <p:cNvPr id="27" name="Text 25"/>
          <p:cNvSpPr/>
          <p:nvPr/>
        </p:nvSpPr>
        <p:spPr>
          <a:xfrm>
            <a:off x="6601968" y="4453128"/>
            <a:ext cx="4928616" cy="237744"/>
          </a:xfrm>
          <a:prstGeom prst="rect">
            <a:avLst/>
          </a:prstGeom>
          <a:noFill/>
          <a:ln/>
        </p:spPr>
        <p:txBody>
          <a:bodyPr wrap="square" lIns="0" tIns="0" rIns="0" bIns="0" rtlCol="0" anchor="ctr"/>
          <a:lstStyle/>
          <a:p>
            <a:pPr marL="0" indent="0" algn="l">
              <a:buNone/>
            </a:pPr>
            <a:r>
              <a:rPr lang="en-US" sz="1000" dirty="0">
                <a:solidFill>
                  <a:srgbClr val="2A6F97"/>
                </a:solidFill>
                <a:latin typeface="Calibri" pitchFamily="34" charset="0"/>
                <a:ea typeface="Calibri" pitchFamily="34" charset="-122"/>
                <a:cs typeface="Calibri" pitchFamily="34" charset="-120"/>
              </a:rPr>
              <a:t>Universities, government</a:t>
            </a:r>
            <a:endParaRPr lang="en-US" sz="1000" dirty="0"/>
          </a:p>
        </p:txBody>
      </p:sp>
      <p:sp>
        <p:nvSpPr>
          <p:cNvPr id="28" name="Text 26"/>
          <p:cNvSpPr/>
          <p:nvPr/>
        </p:nvSpPr>
        <p:spPr>
          <a:xfrm>
            <a:off x="6601968" y="4727448"/>
            <a:ext cx="4928616" cy="502920"/>
          </a:xfrm>
          <a:prstGeom prst="rect">
            <a:avLst/>
          </a:prstGeom>
          <a:noFill/>
          <a:ln/>
        </p:spPr>
        <p:txBody>
          <a:bodyPr wrap="square" lIns="0" tIns="0" rIns="0" bIns="0" rtlCol="0" anchor="t"/>
          <a:lstStyle/>
          <a:p>
            <a:pPr marL="0" indent="0" algn="l">
              <a:lnSpc>
                <a:spcPct val="110000"/>
              </a:lnSpc>
              <a:buNone/>
            </a:pPr>
            <a:r>
              <a:rPr lang="en-US" sz="1100" dirty="0">
                <a:solidFill>
                  <a:srgbClr val="5F7183"/>
                </a:solidFill>
                <a:latin typeface="Calibri" pitchFamily="34" charset="0"/>
                <a:ea typeface="Calibri" pitchFamily="34" charset="-122"/>
                <a:cs typeface="Calibri" pitchFamily="34" charset="-120"/>
              </a:rPr>
              <a:t>Study pedestrian behaviour and how activity shifts over a two-year window.</a:t>
            </a:r>
            <a:endParaRPr lang="en-US" sz="1100" dirty="0"/>
          </a:p>
        </p:txBody>
      </p:sp>
      <p:sp>
        <p:nvSpPr>
          <p:cNvPr id="29" name="Text 27"/>
          <p:cNvSpPr/>
          <p:nvPr/>
        </p:nvSpPr>
        <p:spPr>
          <a:xfrm>
            <a:off x="6601968" y="5294376"/>
            <a:ext cx="4928616" cy="548640"/>
          </a:xfrm>
          <a:prstGeom prst="rect">
            <a:avLst/>
          </a:prstGeom>
          <a:noFill/>
          <a:ln/>
        </p:spPr>
        <p:txBody>
          <a:bodyPr wrap="square" lIns="0" tIns="0" rIns="0" bIns="0" rtlCol="0" anchor="t"/>
          <a:lstStyle/>
          <a:p>
            <a:pPr marL="0" indent="0" algn="l">
              <a:lnSpc>
                <a:spcPct val="110000"/>
              </a:lnSpc>
              <a:buNone/>
            </a:pPr>
            <a:r>
              <a:rPr lang="en-US" sz="1100" b="1" dirty="0">
                <a:solidFill>
                  <a:srgbClr val="12263A"/>
                </a:solidFill>
                <a:latin typeface="Calibri" pitchFamily="34" charset="0"/>
                <a:ea typeface="Calibri" pitchFamily="34" charset="-122"/>
                <a:cs typeface="Calibri" pitchFamily="34" charset="-120"/>
              </a:rPr>
              <a:t>Decision supported:  </a:t>
            </a:r>
            <a:r>
              <a:rPr lang="en-US" sz="1100" dirty="0">
                <a:solidFill>
                  <a:srgbClr val="5F7183"/>
                </a:solidFill>
                <a:latin typeface="Calibri" pitchFamily="34" charset="0"/>
                <a:ea typeface="Calibri" pitchFamily="34" charset="-122"/>
                <a:cs typeface="Calibri" pitchFamily="34" charset="-120"/>
              </a:rPr>
              <a:t>Evidence for transport, planning and public-space policy work.</a:t>
            </a:r>
            <a:endParaRPr lang="en-US" sz="1100" dirty="0"/>
          </a:p>
        </p:txBody>
      </p:sp>
      <p:sp>
        <p:nvSpPr>
          <p:cNvPr id="30" name="Text 28"/>
          <p:cNvSpPr/>
          <p:nvPr/>
        </p:nvSpPr>
        <p:spPr>
          <a:xfrm>
            <a:off x="457200" y="5961888"/>
            <a:ext cx="11274552" cy="320040"/>
          </a:xfrm>
          <a:prstGeom prst="rect">
            <a:avLst/>
          </a:prstGeom>
          <a:noFill/>
          <a:ln/>
        </p:spPr>
        <p:txBody>
          <a:bodyPr wrap="square" lIns="0" tIns="0" rIns="0" bIns="0" rtlCol="0" anchor="t"/>
          <a:lstStyle/>
          <a:p>
            <a:pPr marL="0" indent="0" algn="l">
              <a:buNone/>
            </a:pPr>
            <a:r>
              <a:rPr lang="en-US" sz="1050" i="1" dirty="0">
                <a:solidFill>
                  <a:srgbClr val="8494A3"/>
                </a:solidFill>
                <a:latin typeface="Calibri" pitchFamily="34" charset="0"/>
                <a:ea typeface="Calibri" pitchFamily="34" charset="-122"/>
                <a:cs typeface="Calibri" pitchFamily="34" charset="-120"/>
              </a:rPr>
              <a:t>Highlighted consumers are the primary audience: the dashboard was built around the City of Melbourne's own planning and operations questions.</a:t>
            </a:r>
            <a:endParaRPr lang="en-US" sz="1050" dirty="0"/>
          </a:p>
        </p:txBody>
      </p:sp>
      <p:sp>
        <p:nvSpPr>
          <p:cNvPr id="31" name="Text 29"/>
          <p:cNvSpPr/>
          <p:nvPr/>
        </p:nvSpPr>
        <p:spPr>
          <a:xfrm>
            <a:off x="457200" y="6400800"/>
            <a:ext cx="7315200" cy="274320"/>
          </a:xfrm>
          <a:prstGeom prst="rect">
            <a:avLst/>
          </a:prstGeom>
          <a:noFill/>
          <a:ln/>
        </p:spPr>
        <p:txBody>
          <a:bodyPr wrap="square" lIns="0" tIns="0" rIns="0" bIns="0" rtlCol="0" anchor="ctr"/>
          <a:lstStyle/>
          <a:p>
            <a:pPr marL="0" indent="0" algn="l">
              <a:buNone/>
            </a:pPr>
            <a:r>
              <a:rPr lang="en-US" sz="900" dirty="0">
                <a:solidFill>
                  <a:srgbClr val="5F7183"/>
                </a:solidFill>
                <a:latin typeface="Calibri" pitchFamily="34" charset="0"/>
                <a:ea typeface="Calibri" pitchFamily="34" charset="-122"/>
                <a:cs typeface="Calibri" pitchFamily="34" charset="-120"/>
              </a:rPr>
              <a:t>NIT2202 Big Data  ·  Team Presentation</a:t>
            </a:r>
            <a:endParaRPr lang="en-US" sz="900" dirty="0"/>
          </a:p>
        </p:txBody>
      </p:sp>
      <p:sp>
        <p:nvSpPr>
          <p:cNvPr id="32" name="Text 30"/>
          <p:cNvSpPr/>
          <p:nvPr/>
        </p:nvSpPr>
        <p:spPr>
          <a:xfrm>
            <a:off x="11247120" y="6400800"/>
            <a:ext cx="502920" cy="274320"/>
          </a:xfrm>
          <a:prstGeom prst="rect">
            <a:avLst/>
          </a:prstGeom>
          <a:noFill/>
          <a:ln/>
        </p:spPr>
        <p:txBody>
          <a:bodyPr wrap="square" lIns="0" tIns="0" rIns="0" bIns="0" rtlCol="0" anchor="ctr"/>
          <a:lstStyle/>
          <a:p>
            <a:pPr marL="0" indent="0" algn="r">
              <a:buNone/>
            </a:pPr>
            <a:r>
              <a:rPr lang="en-US" sz="900" dirty="0">
                <a:solidFill>
                  <a:srgbClr val="5F7183"/>
                </a:solidFill>
                <a:latin typeface="Calibri" pitchFamily="34" charset="0"/>
                <a:ea typeface="Calibri" pitchFamily="34" charset="-122"/>
                <a:cs typeface="Calibri" pitchFamily="34" charset="-120"/>
              </a:rPr>
              <a:t>4</a:t>
            </a:r>
            <a:endParaRPr lang="en-US" sz="900" dirty="0"/>
          </a:p>
        </p:txBody>
      </p:sp>
    </p:spTree>
    <p:extLst>
      <p:ext uri="{BB962C8B-B14F-4D97-AF65-F5344CB8AC3E}">
        <p14:creationId xmlns:p14="http://schemas.microsoft.com/office/powerpoint/2010/main" val="2170645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18872" cy="118872"/>
          </a:xfrm>
          <a:prstGeom prst="rect">
            <a:avLst/>
          </a:prstGeom>
          <a:solidFill>
            <a:srgbClr val="E4572E"/>
          </a:solidFill>
          <a:ln w="12700">
            <a:solidFill>
              <a:srgbClr val="E4572E"/>
            </a:solidFill>
            <a:prstDash val="solid"/>
          </a:ln>
        </p:spPr>
      </p:sp>
      <p:sp>
        <p:nvSpPr>
          <p:cNvPr id="3" name="Text 1"/>
          <p:cNvSpPr/>
          <p:nvPr/>
        </p:nvSpPr>
        <p:spPr>
          <a:xfrm>
            <a:off x="676656" y="493776"/>
            <a:ext cx="8229600" cy="274320"/>
          </a:xfrm>
          <a:prstGeom prst="rect">
            <a:avLst/>
          </a:prstGeom>
          <a:noFill/>
          <a:ln/>
        </p:spPr>
        <p:txBody>
          <a:bodyPr wrap="square" lIns="0" tIns="0" rIns="0" bIns="0" rtlCol="0" anchor="ctr"/>
          <a:lstStyle/>
          <a:p>
            <a:pPr marL="0" indent="0">
              <a:buNone/>
            </a:pPr>
            <a:r>
              <a:rPr lang="en-US" sz="950" b="1" kern="0" spc="120" dirty="0">
                <a:solidFill>
                  <a:srgbClr val="E4572E"/>
                </a:solidFill>
                <a:latin typeface="Calibri" pitchFamily="34" charset="0"/>
                <a:ea typeface="Calibri" pitchFamily="34" charset="-122"/>
                <a:cs typeface="Calibri" pitchFamily="34" charset="-120"/>
              </a:rPr>
              <a:t>PROJECT 2 · DASHBOARD</a:t>
            </a:r>
            <a:endParaRPr lang="en-US" sz="950" dirty="0"/>
          </a:p>
        </p:txBody>
      </p:sp>
      <p:sp>
        <p:nvSpPr>
          <p:cNvPr id="4" name="Text 2"/>
          <p:cNvSpPr/>
          <p:nvPr/>
        </p:nvSpPr>
        <p:spPr>
          <a:xfrm>
            <a:off x="457200" y="841248"/>
            <a:ext cx="11247120" cy="566928"/>
          </a:xfrm>
          <a:prstGeom prst="rect">
            <a:avLst/>
          </a:prstGeom>
          <a:noFill/>
          <a:ln/>
        </p:spPr>
        <p:txBody>
          <a:bodyPr wrap="square" lIns="0" tIns="0" rIns="0" bIns="0" rtlCol="0" anchor="ctr"/>
          <a:lstStyle/>
          <a:p>
            <a:pPr marL="0" indent="0">
              <a:buNone/>
            </a:pPr>
            <a:r>
              <a:rPr lang="en-US" sz="3000" b="1" dirty="0">
                <a:solidFill>
                  <a:srgbClr val="12263A"/>
                </a:solidFill>
                <a:latin typeface="Cambria" pitchFamily="34" charset="0"/>
                <a:ea typeface="Cambria" pitchFamily="34" charset="-122"/>
                <a:cs typeface="Cambria" pitchFamily="34" charset="-120"/>
              </a:rPr>
              <a:t>Dashboard Insights and Business Value</a:t>
            </a:r>
            <a:endParaRPr lang="en-US" sz="3000" dirty="0"/>
          </a:p>
        </p:txBody>
      </p:sp>
      <p:sp>
        <p:nvSpPr>
          <p:cNvPr id="5" name="Shape 3"/>
          <p:cNvSpPr/>
          <p:nvPr/>
        </p:nvSpPr>
        <p:spPr>
          <a:xfrm>
            <a:off x="425196" y="1485900"/>
            <a:ext cx="7333488" cy="4606012"/>
          </a:xfrm>
          <a:prstGeom prst="rect">
            <a:avLst/>
          </a:prstGeom>
          <a:solidFill>
            <a:srgbClr val="FFFFFF"/>
          </a:solidFill>
          <a:ln w="12700">
            <a:solidFill>
              <a:srgbClr val="D5DCE3"/>
            </a:solidFill>
            <a:prstDash val="solid"/>
          </a:ln>
        </p:spPr>
      </p:sp>
      <p:pic>
        <p:nvPicPr>
          <p:cNvPr id="6" name="Image 0" descr="/home/claude/work/dashboard.png"/>
          <p:cNvPicPr>
            <a:picLocks noChangeAspect="1"/>
          </p:cNvPicPr>
          <p:nvPr/>
        </p:nvPicPr>
        <p:blipFill>
          <a:blip r:embed="rId3"/>
          <a:stretch>
            <a:fillRect/>
          </a:stretch>
        </p:blipFill>
        <p:spPr>
          <a:xfrm>
            <a:off x="457200" y="1517904"/>
            <a:ext cx="7269480" cy="4542004"/>
          </a:xfrm>
          <a:prstGeom prst="rect">
            <a:avLst/>
          </a:prstGeom>
        </p:spPr>
      </p:pic>
      <p:sp>
        <p:nvSpPr>
          <p:cNvPr id="7" name="Text 4"/>
          <p:cNvSpPr/>
          <p:nvPr/>
        </p:nvSpPr>
        <p:spPr>
          <a:xfrm>
            <a:off x="457200" y="6123916"/>
            <a:ext cx="7269480" cy="256032"/>
          </a:xfrm>
          <a:prstGeom prst="rect">
            <a:avLst/>
          </a:prstGeom>
          <a:noFill/>
          <a:ln/>
        </p:spPr>
        <p:txBody>
          <a:bodyPr wrap="square" lIns="0" tIns="0" rIns="0" bIns="0" rtlCol="0" anchor="t"/>
          <a:lstStyle/>
          <a:p>
            <a:pPr marL="0" indent="0" algn="l">
              <a:buNone/>
            </a:pPr>
            <a:r>
              <a:rPr lang="en-US" sz="850" i="1" dirty="0">
                <a:solidFill>
                  <a:srgbClr val="8494A3"/>
                </a:solidFill>
                <a:latin typeface="Calibri" pitchFamily="34" charset="0"/>
                <a:ea typeface="Calibri" pitchFamily="34" charset="-122"/>
                <a:cs typeface="Calibri" pitchFamily="34" charset="-120"/>
              </a:rPr>
              <a:t>Melbourne Pedestrian Activity Dashboard, Tableau Cloud (live connection to Snowflake).</a:t>
            </a:r>
            <a:endParaRPr lang="en-US" sz="850" dirty="0"/>
          </a:p>
        </p:txBody>
      </p:sp>
      <p:sp>
        <p:nvSpPr>
          <p:cNvPr id="8" name="Text 5"/>
          <p:cNvSpPr/>
          <p:nvPr/>
        </p:nvSpPr>
        <p:spPr>
          <a:xfrm>
            <a:off x="8092440" y="1572768"/>
            <a:ext cx="3639312" cy="274320"/>
          </a:xfrm>
          <a:prstGeom prst="rect">
            <a:avLst/>
          </a:prstGeom>
          <a:noFill/>
          <a:ln/>
        </p:spPr>
        <p:txBody>
          <a:bodyPr wrap="square" lIns="0" tIns="0" rIns="0" bIns="0" rtlCol="0" anchor="ctr"/>
          <a:lstStyle/>
          <a:p>
            <a:pPr marL="0" indent="0">
              <a:buNone/>
            </a:pPr>
            <a:r>
              <a:rPr lang="en-US" sz="1300" b="1" dirty="0">
                <a:solidFill>
                  <a:srgbClr val="12263A"/>
                </a:solidFill>
                <a:latin typeface="Cambria" pitchFamily="34" charset="0"/>
                <a:ea typeface="Cambria" pitchFamily="34" charset="-122"/>
                <a:cs typeface="Cambria" pitchFamily="34" charset="-120"/>
              </a:rPr>
              <a:t>What the dashboard shows</a:t>
            </a:r>
            <a:endParaRPr lang="en-US" sz="1300" dirty="0"/>
          </a:p>
        </p:txBody>
      </p:sp>
      <p:sp>
        <p:nvSpPr>
          <p:cNvPr id="9" name="Text 6"/>
          <p:cNvSpPr/>
          <p:nvPr/>
        </p:nvSpPr>
        <p:spPr>
          <a:xfrm>
            <a:off x="8202168" y="1920240"/>
            <a:ext cx="3529584" cy="2011680"/>
          </a:xfrm>
          <a:prstGeom prst="rect">
            <a:avLst/>
          </a:prstGeom>
          <a:noFill/>
          <a:ln/>
        </p:spPr>
        <p:txBody>
          <a:bodyPr wrap="square" lIns="0" tIns="0" rIns="0" bIns="0" rtlCol="0" anchor="t"/>
          <a:lstStyle/>
          <a:p>
            <a:pPr marL="342900" indent="-342900" algn="l">
              <a:lnSpc>
                <a:spcPct val="120000"/>
              </a:lnSpc>
              <a:buSzPct val="100000"/>
              <a:buChar char="•"/>
            </a:pPr>
            <a:r>
              <a:rPr lang="en-US" sz="1150" dirty="0">
                <a:solidFill>
                  <a:srgbClr val="5F7183"/>
                </a:solidFill>
                <a:latin typeface="Calibri" pitchFamily="34" charset="0"/>
                <a:ea typeface="Calibri" pitchFamily="34" charset="-122"/>
                <a:cs typeface="Calibri" pitchFamily="34" charset="-120"/>
              </a:rPr>
              <a:t>Pedestrian activity rises and falls across the months rather than holding flat.</a:t>
            </a:r>
            <a:endParaRPr lang="en-US" sz="1150" dirty="0"/>
          </a:p>
          <a:p>
            <a:pPr marL="342900" indent="-342900" algn="l">
              <a:lnSpc>
                <a:spcPct val="120000"/>
              </a:lnSpc>
              <a:buSzPct val="100000"/>
              <a:buChar char="•"/>
            </a:pPr>
            <a:r>
              <a:rPr lang="en-US" sz="1150" dirty="0">
                <a:solidFill>
                  <a:srgbClr val="5F7183"/>
                </a:solidFill>
                <a:latin typeface="Calibri" pitchFamily="34" charset="0"/>
                <a:ea typeface="Calibri" pitchFamily="34" charset="-122"/>
                <a:cs typeface="Calibri" pitchFamily="34" charset="-120"/>
              </a:rPr>
              <a:t>Daytime and afternoon hours are consistently busier than overnight hours.</a:t>
            </a:r>
            <a:endParaRPr lang="en-US" sz="1150" dirty="0"/>
          </a:p>
          <a:p>
            <a:pPr marL="342900" indent="-342900" algn="l">
              <a:lnSpc>
                <a:spcPct val="120000"/>
              </a:lnSpc>
              <a:buSzPct val="100000"/>
              <a:buChar char="•"/>
            </a:pPr>
            <a:r>
              <a:rPr lang="en-US" sz="1150" dirty="0">
                <a:solidFill>
                  <a:srgbClr val="5F7183"/>
                </a:solidFill>
                <a:latin typeface="Calibri" pitchFamily="34" charset="0"/>
                <a:ea typeface="Calibri" pitchFamily="34" charset="-122"/>
                <a:cs typeface="Calibri" pitchFamily="34" charset="-120"/>
              </a:rPr>
              <a:t>Many of the busiest sensors peak around 17:00, at the afternoon commute.</a:t>
            </a:r>
            <a:endParaRPr lang="en-US" sz="1150" dirty="0"/>
          </a:p>
          <a:p>
            <a:pPr marL="342900" indent="-342900" algn="l">
              <a:lnSpc>
                <a:spcPct val="120000"/>
              </a:lnSpc>
              <a:buSzPct val="100000"/>
              <a:buChar char="•"/>
            </a:pPr>
            <a:r>
              <a:rPr lang="en-US" sz="1150" dirty="0">
                <a:solidFill>
                  <a:srgbClr val="5F7183"/>
                </a:solidFill>
                <a:latin typeface="Calibri" pitchFamily="34" charset="0"/>
                <a:ea typeface="Calibri" pitchFamily="34" charset="-122"/>
                <a:cs typeface="Calibri" pitchFamily="34" charset="-120"/>
              </a:rPr>
              <a:t>Activity is spatially concentrated — sensor volumes differ sharply by location.</a:t>
            </a:r>
            <a:endParaRPr lang="en-US" sz="1150" dirty="0"/>
          </a:p>
        </p:txBody>
      </p:sp>
      <p:sp>
        <p:nvSpPr>
          <p:cNvPr id="10" name="Shape 7"/>
          <p:cNvSpPr/>
          <p:nvPr/>
        </p:nvSpPr>
        <p:spPr>
          <a:xfrm>
            <a:off x="8092440" y="3950208"/>
            <a:ext cx="3639312" cy="2148840"/>
          </a:xfrm>
          <a:prstGeom prst="roundRect">
            <a:avLst>
              <a:gd name="adj" fmla="val 2553"/>
            </a:avLst>
          </a:prstGeom>
          <a:solidFill>
            <a:srgbClr val="EEF2F6"/>
          </a:solidFill>
          <a:ln w="12700">
            <a:solidFill>
              <a:srgbClr val="D5DCE3"/>
            </a:solidFill>
            <a:prstDash val="solid"/>
          </a:ln>
        </p:spPr>
      </p:sp>
      <p:sp>
        <p:nvSpPr>
          <p:cNvPr id="11" name="Text 8"/>
          <p:cNvSpPr/>
          <p:nvPr/>
        </p:nvSpPr>
        <p:spPr>
          <a:xfrm>
            <a:off x="8293608" y="4078224"/>
            <a:ext cx="3236976" cy="274320"/>
          </a:xfrm>
          <a:prstGeom prst="rect">
            <a:avLst/>
          </a:prstGeom>
          <a:noFill/>
          <a:ln/>
        </p:spPr>
        <p:txBody>
          <a:bodyPr wrap="square" lIns="0" tIns="0" rIns="0" bIns="0" rtlCol="0" anchor="ctr"/>
          <a:lstStyle/>
          <a:p>
            <a:pPr marL="0" indent="0">
              <a:buNone/>
            </a:pPr>
            <a:r>
              <a:rPr lang="en-US" sz="1300" b="1" dirty="0">
                <a:solidFill>
                  <a:srgbClr val="12263A"/>
                </a:solidFill>
                <a:latin typeface="Cambria" pitchFamily="34" charset="0"/>
                <a:ea typeface="Cambria" pitchFamily="34" charset="-122"/>
                <a:cs typeface="Cambria" pitchFamily="34" charset="-120"/>
              </a:rPr>
              <a:t>Business value</a:t>
            </a:r>
            <a:endParaRPr lang="en-US" sz="1300" dirty="0"/>
          </a:p>
        </p:txBody>
      </p:sp>
      <p:sp>
        <p:nvSpPr>
          <p:cNvPr id="12" name="Text 9"/>
          <p:cNvSpPr/>
          <p:nvPr/>
        </p:nvSpPr>
        <p:spPr>
          <a:xfrm>
            <a:off x="8403336" y="4407408"/>
            <a:ext cx="3127248" cy="1600200"/>
          </a:xfrm>
          <a:prstGeom prst="rect">
            <a:avLst/>
          </a:prstGeom>
          <a:noFill/>
          <a:ln/>
        </p:spPr>
        <p:txBody>
          <a:bodyPr wrap="square" lIns="0" tIns="0" rIns="0" bIns="0" rtlCol="0" anchor="t"/>
          <a:lstStyle/>
          <a:p>
            <a:pPr marL="342900" indent="-342900" algn="l">
              <a:lnSpc>
                <a:spcPct val="125000"/>
              </a:lnSpc>
              <a:buSzPct val="100000"/>
              <a:buChar char="•"/>
            </a:pPr>
            <a:r>
              <a:rPr lang="en-US" sz="1150" dirty="0">
                <a:solidFill>
                  <a:srgbClr val="5F7183"/>
                </a:solidFill>
                <a:latin typeface="Calibri" pitchFamily="34" charset="0"/>
                <a:ea typeface="Calibri" pitchFamily="34" charset="-122"/>
                <a:cs typeface="Calibri" pitchFamily="34" charset="-120"/>
              </a:rPr>
              <a:t>Evidence-based infrastructure planning</a:t>
            </a:r>
            <a:endParaRPr lang="en-US" sz="1150" dirty="0"/>
          </a:p>
          <a:p>
            <a:pPr marL="342900" indent="-342900" algn="l">
              <a:lnSpc>
                <a:spcPct val="125000"/>
              </a:lnSpc>
              <a:buSzPct val="100000"/>
              <a:buChar char="•"/>
            </a:pPr>
            <a:r>
              <a:rPr lang="en-US" sz="1150" dirty="0">
                <a:solidFill>
                  <a:srgbClr val="5F7183"/>
                </a:solidFill>
                <a:latin typeface="Calibri" pitchFamily="34" charset="0"/>
                <a:ea typeface="Calibri" pitchFamily="34" charset="-122"/>
                <a:cs typeface="Calibri" pitchFamily="34" charset="-120"/>
              </a:rPr>
              <a:t>Shows when and where demand is highest</a:t>
            </a:r>
            <a:endParaRPr lang="en-US" sz="1150" dirty="0"/>
          </a:p>
          <a:p>
            <a:pPr marL="342900" indent="-342900" algn="l">
              <a:lnSpc>
                <a:spcPct val="125000"/>
              </a:lnSpc>
              <a:buSzPct val="100000"/>
              <a:buChar char="•"/>
            </a:pPr>
            <a:r>
              <a:rPr lang="en-US" sz="1150" dirty="0">
                <a:solidFill>
                  <a:srgbClr val="5F7183"/>
                </a:solidFill>
                <a:latin typeface="Calibri" pitchFamily="34" charset="0"/>
                <a:ea typeface="Calibri" pitchFamily="34" charset="-122"/>
                <a:cs typeface="Calibri" pitchFamily="34" charset="-120"/>
              </a:rPr>
              <a:t>Supports event planning and resourcing</a:t>
            </a:r>
            <a:endParaRPr lang="en-US" sz="1150" dirty="0"/>
          </a:p>
          <a:p>
            <a:pPr marL="342900" indent="-342900" algn="l">
              <a:lnSpc>
                <a:spcPct val="125000"/>
              </a:lnSpc>
              <a:buSzPct val="100000"/>
              <a:buChar char="•"/>
            </a:pPr>
            <a:r>
              <a:rPr lang="en-US" sz="1150" dirty="0">
                <a:solidFill>
                  <a:srgbClr val="5F7183"/>
                </a:solidFill>
                <a:latin typeface="Calibri" pitchFamily="34" charset="0"/>
                <a:ea typeface="Calibri" pitchFamily="34" charset="-122"/>
                <a:cs typeface="Calibri" pitchFamily="34" charset="-120"/>
              </a:rPr>
              <a:t>Helps traders read footfall by time and place</a:t>
            </a:r>
            <a:endParaRPr lang="en-US" sz="1150" dirty="0"/>
          </a:p>
        </p:txBody>
      </p:sp>
      <p:sp>
        <p:nvSpPr>
          <p:cNvPr id="13" name="Text 10"/>
          <p:cNvSpPr/>
          <p:nvPr/>
        </p:nvSpPr>
        <p:spPr>
          <a:xfrm>
            <a:off x="457200" y="6400800"/>
            <a:ext cx="7315200" cy="274320"/>
          </a:xfrm>
          <a:prstGeom prst="rect">
            <a:avLst/>
          </a:prstGeom>
          <a:noFill/>
          <a:ln/>
        </p:spPr>
        <p:txBody>
          <a:bodyPr wrap="square" lIns="0" tIns="0" rIns="0" bIns="0" rtlCol="0" anchor="ctr"/>
          <a:lstStyle/>
          <a:p>
            <a:pPr marL="0" indent="0" algn="l">
              <a:buNone/>
            </a:pPr>
            <a:r>
              <a:rPr lang="en-US" sz="900" dirty="0">
                <a:solidFill>
                  <a:srgbClr val="5F7183"/>
                </a:solidFill>
                <a:latin typeface="Calibri" pitchFamily="34" charset="0"/>
                <a:ea typeface="Calibri" pitchFamily="34" charset="-122"/>
                <a:cs typeface="Calibri" pitchFamily="34" charset="-120"/>
              </a:rPr>
              <a:t>NIT2202 Big Data  ·  Team Presentation</a:t>
            </a:r>
            <a:endParaRPr lang="en-US" sz="900" dirty="0"/>
          </a:p>
        </p:txBody>
      </p:sp>
      <p:sp>
        <p:nvSpPr>
          <p:cNvPr id="14" name="Text 11"/>
          <p:cNvSpPr/>
          <p:nvPr/>
        </p:nvSpPr>
        <p:spPr>
          <a:xfrm>
            <a:off x="11247120" y="6400800"/>
            <a:ext cx="502920" cy="274320"/>
          </a:xfrm>
          <a:prstGeom prst="rect">
            <a:avLst/>
          </a:prstGeom>
          <a:noFill/>
          <a:ln/>
        </p:spPr>
        <p:txBody>
          <a:bodyPr wrap="square" lIns="0" tIns="0" rIns="0" bIns="0" rtlCol="0" anchor="ctr"/>
          <a:lstStyle/>
          <a:p>
            <a:pPr marL="0" indent="0" algn="r">
              <a:buNone/>
            </a:pPr>
            <a:r>
              <a:rPr lang="en-US" sz="900" dirty="0">
                <a:solidFill>
                  <a:srgbClr val="5F7183"/>
                </a:solidFill>
                <a:latin typeface="Calibri" pitchFamily="34" charset="0"/>
                <a:ea typeface="Calibri" pitchFamily="34" charset="-122"/>
                <a:cs typeface="Calibri" pitchFamily="34" charset="-120"/>
              </a:rPr>
              <a:t>5</a:t>
            </a:r>
            <a:endParaRPr lang="en-US" sz="900" dirty="0"/>
          </a:p>
        </p:txBody>
      </p:sp>
    </p:spTree>
    <p:extLst>
      <p:ext uri="{BB962C8B-B14F-4D97-AF65-F5344CB8AC3E}">
        <p14:creationId xmlns:p14="http://schemas.microsoft.com/office/powerpoint/2010/main" val="2868326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18872" cy="118872"/>
          </a:xfrm>
          <a:prstGeom prst="rect">
            <a:avLst/>
          </a:prstGeom>
          <a:solidFill>
            <a:srgbClr val="E4572E"/>
          </a:solidFill>
          <a:ln w="12700">
            <a:solidFill>
              <a:srgbClr val="E4572E"/>
            </a:solidFill>
            <a:prstDash val="solid"/>
          </a:ln>
        </p:spPr>
      </p:sp>
      <p:sp>
        <p:nvSpPr>
          <p:cNvPr id="3" name="Text 1"/>
          <p:cNvSpPr/>
          <p:nvPr/>
        </p:nvSpPr>
        <p:spPr>
          <a:xfrm>
            <a:off x="676656" y="493776"/>
            <a:ext cx="8229600" cy="274320"/>
          </a:xfrm>
          <a:prstGeom prst="rect">
            <a:avLst/>
          </a:prstGeom>
          <a:noFill/>
          <a:ln/>
        </p:spPr>
        <p:txBody>
          <a:bodyPr wrap="square" lIns="0" tIns="0" rIns="0" bIns="0" rtlCol="0" anchor="ctr"/>
          <a:lstStyle/>
          <a:p>
            <a:pPr marL="0" indent="0">
              <a:buNone/>
            </a:pPr>
            <a:r>
              <a:rPr lang="en-US" sz="950" b="1" kern="0" spc="120" dirty="0">
                <a:solidFill>
                  <a:srgbClr val="E4572E"/>
                </a:solidFill>
                <a:latin typeface="Calibri" pitchFamily="34" charset="0"/>
                <a:ea typeface="Calibri" pitchFamily="34" charset="-122"/>
                <a:cs typeface="Calibri" pitchFamily="34" charset="-120"/>
              </a:rPr>
              <a:t>PROJECT 2 · DASHBOARD</a:t>
            </a:r>
            <a:endParaRPr lang="en-US" sz="950" dirty="0"/>
          </a:p>
        </p:txBody>
      </p:sp>
      <p:sp>
        <p:nvSpPr>
          <p:cNvPr id="4" name="Text 2"/>
          <p:cNvSpPr/>
          <p:nvPr/>
        </p:nvSpPr>
        <p:spPr>
          <a:xfrm>
            <a:off x="457200" y="841248"/>
            <a:ext cx="11247120" cy="566928"/>
          </a:xfrm>
          <a:prstGeom prst="rect">
            <a:avLst/>
          </a:prstGeom>
          <a:noFill/>
          <a:ln/>
        </p:spPr>
        <p:txBody>
          <a:bodyPr wrap="square" lIns="0" tIns="0" rIns="0" bIns="0" rtlCol="0" anchor="ctr"/>
          <a:lstStyle/>
          <a:p>
            <a:pPr marL="0" indent="0">
              <a:buNone/>
            </a:pPr>
            <a:r>
              <a:rPr lang="en-US" sz="3000" b="1" dirty="0">
                <a:solidFill>
                  <a:srgbClr val="12263A"/>
                </a:solidFill>
                <a:latin typeface="Cambria" pitchFamily="34" charset="0"/>
                <a:ea typeface="Cambria" pitchFamily="34" charset="-122"/>
                <a:cs typeface="Cambria" pitchFamily="34" charset="-120"/>
              </a:rPr>
              <a:t>Dashboard Insights and Business Value</a:t>
            </a:r>
            <a:endParaRPr lang="en-US" sz="3000" dirty="0"/>
          </a:p>
        </p:txBody>
      </p:sp>
      <p:sp>
        <p:nvSpPr>
          <p:cNvPr id="5" name="Shape 3"/>
          <p:cNvSpPr/>
          <p:nvPr/>
        </p:nvSpPr>
        <p:spPr>
          <a:xfrm>
            <a:off x="425196" y="1485900"/>
            <a:ext cx="7333488" cy="4606012"/>
          </a:xfrm>
          <a:prstGeom prst="rect">
            <a:avLst/>
          </a:prstGeom>
          <a:solidFill>
            <a:srgbClr val="FFFFFF"/>
          </a:solidFill>
          <a:ln w="12700">
            <a:solidFill>
              <a:srgbClr val="D5DCE3"/>
            </a:solidFill>
            <a:prstDash val="solid"/>
          </a:ln>
        </p:spPr>
      </p:sp>
      <p:pic>
        <p:nvPicPr>
          <p:cNvPr id="6" name="Image 0" descr="/home/claude/work/dashboard.png"/>
          <p:cNvPicPr>
            <a:picLocks noChangeAspect="1"/>
          </p:cNvPicPr>
          <p:nvPr/>
        </p:nvPicPr>
        <p:blipFill>
          <a:blip r:embed="rId3"/>
          <a:stretch>
            <a:fillRect/>
          </a:stretch>
        </p:blipFill>
        <p:spPr>
          <a:xfrm>
            <a:off x="457200" y="1517904"/>
            <a:ext cx="7269480" cy="4542004"/>
          </a:xfrm>
          <a:prstGeom prst="rect">
            <a:avLst/>
          </a:prstGeom>
        </p:spPr>
      </p:pic>
      <p:sp>
        <p:nvSpPr>
          <p:cNvPr id="7" name="Text 4"/>
          <p:cNvSpPr/>
          <p:nvPr/>
        </p:nvSpPr>
        <p:spPr>
          <a:xfrm>
            <a:off x="457200" y="6123916"/>
            <a:ext cx="7269480" cy="256032"/>
          </a:xfrm>
          <a:prstGeom prst="rect">
            <a:avLst/>
          </a:prstGeom>
          <a:noFill/>
          <a:ln/>
        </p:spPr>
        <p:txBody>
          <a:bodyPr wrap="square" lIns="0" tIns="0" rIns="0" bIns="0" rtlCol="0" anchor="t"/>
          <a:lstStyle/>
          <a:p>
            <a:pPr marL="0" indent="0" algn="l">
              <a:buNone/>
            </a:pPr>
            <a:r>
              <a:rPr lang="en-US" sz="850" i="1" dirty="0">
                <a:solidFill>
                  <a:srgbClr val="8494A3"/>
                </a:solidFill>
                <a:latin typeface="Calibri" pitchFamily="34" charset="0"/>
                <a:ea typeface="Calibri" pitchFamily="34" charset="-122"/>
                <a:cs typeface="Calibri" pitchFamily="34" charset="-120"/>
              </a:rPr>
              <a:t>Melbourne Pedestrian Activity Dashboard, Tableau Cloud (live connection to Snowflake).</a:t>
            </a:r>
            <a:endParaRPr lang="en-US" sz="850" dirty="0"/>
          </a:p>
        </p:txBody>
      </p:sp>
      <p:sp>
        <p:nvSpPr>
          <p:cNvPr id="8" name="Text 5"/>
          <p:cNvSpPr/>
          <p:nvPr/>
        </p:nvSpPr>
        <p:spPr>
          <a:xfrm>
            <a:off x="8092440" y="1572768"/>
            <a:ext cx="3639312" cy="274320"/>
          </a:xfrm>
          <a:prstGeom prst="rect">
            <a:avLst/>
          </a:prstGeom>
          <a:noFill/>
          <a:ln/>
        </p:spPr>
        <p:txBody>
          <a:bodyPr wrap="square" lIns="0" tIns="0" rIns="0" bIns="0" rtlCol="0" anchor="ctr"/>
          <a:lstStyle/>
          <a:p>
            <a:pPr marL="0" indent="0">
              <a:buNone/>
            </a:pPr>
            <a:r>
              <a:rPr lang="en-US" sz="1300" b="1" dirty="0">
                <a:solidFill>
                  <a:srgbClr val="12263A"/>
                </a:solidFill>
                <a:latin typeface="Cambria" pitchFamily="34" charset="0"/>
                <a:ea typeface="Cambria" pitchFamily="34" charset="-122"/>
                <a:cs typeface="Cambria" pitchFamily="34" charset="-120"/>
              </a:rPr>
              <a:t>What the dashboard shows</a:t>
            </a:r>
            <a:endParaRPr lang="en-US" sz="1300" dirty="0"/>
          </a:p>
        </p:txBody>
      </p:sp>
      <p:sp>
        <p:nvSpPr>
          <p:cNvPr id="9" name="Text 6"/>
          <p:cNvSpPr/>
          <p:nvPr/>
        </p:nvSpPr>
        <p:spPr>
          <a:xfrm>
            <a:off x="8202168" y="1920240"/>
            <a:ext cx="3529584" cy="2011680"/>
          </a:xfrm>
          <a:prstGeom prst="rect">
            <a:avLst/>
          </a:prstGeom>
          <a:noFill/>
          <a:ln/>
        </p:spPr>
        <p:txBody>
          <a:bodyPr wrap="square" lIns="0" tIns="0" rIns="0" bIns="0" rtlCol="0" anchor="t"/>
          <a:lstStyle/>
          <a:p>
            <a:pPr marL="342900" indent="-342900" algn="l">
              <a:lnSpc>
                <a:spcPct val="120000"/>
              </a:lnSpc>
              <a:buSzPct val="100000"/>
              <a:buChar char="•"/>
            </a:pPr>
            <a:r>
              <a:rPr lang="en-US" sz="1150" dirty="0">
                <a:solidFill>
                  <a:srgbClr val="5F7183"/>
                </a:solidFill>
                <a:latin typeface="Calibri" pitchFamily="34" charset="0"/>
                <a:ea typeface="Calibri" pitchFamily="34" charset="-122"/>
                <a:cs typeface="Calibri" pitchFamily="34" charset="-120"/>
              </a:rPr>
              <a:t>Pedestrian activity rises and falls across the months rather than holding flat.</a:t>
            </a:r>
            <a:endParaRPr lang="en-US" sz="1150" dirty="0"/>
          </a:p>
          <a:p>
            <a:pPr marL="342900" indent="-342900" algn="l">
              <a:lnSpc>
                <a:spcPct val="120000"/>
              </a:lnSpc>
              <a:buSzPct val="100000"/>
              <a:buChar char="•"/>
            </a:pPr>
            <a:r>
              <a:rPr lang="en-US" sz="1150" dirty="0">
                <a:solidFill>
                  <a:srgbClr val="5F7183"/>
                </a:solidFill>
                <a:latin typeface="Calibri" pitchFamily="34" charset="0"/>
                <a:ea typeface="Calibri" pitchFamily="34" charset="-122"/>
                <a:cs typeface="Calibri" pitchFamily="34" charset="-120"/>
              </a:rPr>
              <a:t>Daytime and afternoon hours are consistently busier than overnight hours.</a:t>
            </a:r>
            <a:endParaRPr lang="en-US" sz="1150" dirty="0"/>
          </a:p>
          <a:p>
            <a:pPr marL="342900" indent="-342900" algn="l">
              <a:lnSpc>
                <a:spcPct val="120000"/>
              </a:lnSpc>
              <a:buSzPct val="100000"/>
              <a:buChar char="•"/>
            </a:pPr>
            <a:r>
              <a:rPr lang="en-US" sz="1150" dirty="0">
                <a:solidFill>
                  <a:srgbClr val="5F7183"/>
                </a:solidFill>
                <a:latin typeface="Calibri" pitchFamily="34" charset="0"/>
                <a:ea typeface="Calibri" pitchFamily="34" charset="-122"/>
                <a:cs typeface="Calibri" pitchFamily="34" charset="-120"/>
              </a:rPr>
              <a:t>Many of the busiest sensors peak around 17:00, at the afternoon commute.</a:t>
            </a:r>
            <a:endParaRPr lang="en-US" sz="1150" dirty="0"/>
          </a:p>
          <a:p>
            <a:pPr marL="342900" indent="-342900" algn="l">
              <a:lnSpc>
                <a:spcPct val="120000"/>
              </a:lnSpc>
              <a:buSzPct val="100000"/>
              <a:buChar char="•"/>
            </a:pPr>
            <a:r>
              <a:rPr lang="en-US" sz="1150" dirty="0">
                <a:solidFill>
                  <a:srgbClr val="5F7183"/>
                </a:solidFill>
                <a:latin typeface="Calibri" pitchFamily="34" charset="0"/>
                <a:ea typeface="Calibri" pitchFamily="34" charset="-122"/>
                <a:cs typeface="Calibri" pitchFamily="34" charset="-120"/>
              </a:rPr>
              <a:t>Activity is spatially concentrated — sensor volumes differ sharply by location.</a:t>
            </a:r>
            <a:endParaRPr lang="en-US" sz="1150" dirty="0"/>
          </a:p>
        </p:txBody>
      </p:sp>
      <p:sp>
        <p:nvSpPr>
          <p:cNvPr id="10" name="Shape 7"/>
          <p:cNvSpPr/>
          <p:nvPr/>
        </p:nvSpPr>
        <p:spPr>
          <a:xfrm>
            <a:off x="8092440" y="3950208"/>
            <a:ext cx="3639312" cy="2148840"/>
          </a:xfrm>
          <a:prstGeom prst="roundRect">
            <a:avLst>
              <a:gd name="adj" fmla="val 2553"/>
            </a:avLst>
          </a:prstGeom>
          <a:solidFill>
            <a:srgbClr val="EEF2F6"/>
          </a:solidFill>
          <a:ln w="12700">
            <a:solidFill>
              <a:srgbClr val="D5DCE3"/>
            </a:solidFill>
            <a:prstDash val="solid"/>
          </a:ln>
        </p:spPr>
      </p:sp>
      <p:sp>
        <p:nvSpPr>
          <p:cNvPr id="11" name="Text 8"/>
          <p:cNvSpPr/>
          <p:nvPr/>
        </p:nvSpPr>
        <p:spPr>
          <a:xfrm>
            <a:off x="8293608" y="4078224"/>
            <a:ext cx="3236976" cy="274320"/>
          </a:xfrm>
          <a:prstGeom prst="rect">
            <a:avLst/>
          </a:prstGeom>
          <a:noFill/>
          <a:ln/>
        </p:spPr>
        <p:txBody>
          <a:bodyPr wrap="square" lIns="0" tIns="0" rIns="0" bIns="0" rtlCol="0" anchor="ctr"/>
          <a:lstStyle/>
          <a:p>
            <a:pPr marL="0" indent="0">
              <a:buNone/>
            </a:pPr>
            <a:r>
              <a:rPr lang="en-US" sz="1300" b="1" dirty="0">
                <a:solidFill>
                  <a:srgbClr val="12263A"/>
                </a:solidFill>
                <a:latin typeface="Cambria" pitchFamily="34" charset="0"/>
                <a:ea typeface="Cambria" pitchFamily="34" charset="-122"/>
                <a:cs typeface="Cambria" pitchFamily="34" charset="-120"/>
              </a:rPr>
              <a:t>Business value</a:t>
            </a:r>
            <a:endParaRPr lang="en-US" sz="1300" dirty="0"/>
          </a:p>
        </p:txBody>
      </p:sp>
      <p:sp>
        <p:nvSpPr>
          <p:cNvPr id="12" name="Text 9"/>
          <p:cNvSpPr/>
          <p:nvPr/>
        </p:nvSpPr>
        <p:spPr>
          <a:xfrm>
            <a:off x="8403336" y="4407408"/>
            <a:ext cx="3127248" cy="1600200"/>
          </a:xfrm>
          <a:prstGeom prst="rect">
            <a:avLst/>
          </a:prstGeom>
          <a:noFill/>
          <a:ln/>
        </p:spPr>
        <p:txBody>
          <a:bodyPr wrap="square" lIns="0" tIns="0" rIns="0" bIns="0" rtlCol="0" anchor="t"/>
          <a:lstStyle/>
          <a:p>
            <a:pPr marL="342900" indent="-342900" algn="l">
              <a:lnSpc>
                <a:spcPct val="125000"/>
              </a:lnSpc>
              <a:buSzPct val="100000"/>
              <a:buChar char="•"/>
            </a:pPr>
            <a:r>
              <a:rPr lang="en-US" sz="1150" dirty="0">
                <a:solidFill>
                  <a:srgbClr val="5F7183"/>
                </a:solidFill>
                <a:latin typeface="Calibri" pitchFamily="34" charset="0"/>
                <a:ea typeface="Calibri" pitchFamily="34" charset="-122"/>
                <a:cs typeface="Calibri" pitchFamily="34" charset="-120"/>
              </a:rPr>
              <a:t>Evidence-based infrastructure planning</a:t>
            </a:r>
            <a:endParaRPr lang="en-US" sz="1150" dirty="0"/>
          </a:p>
          <a:p>
            <a:pPr marL="342900" indent="-342900" algn="l">
              <a:lnSpc>
                <a:spcPct val="125000"/>
              </a:lnSpc>
              <a:buSzPct val="100000"/>
              <a:buChar char="•"/>
            </a:pPr>
            <a:r>
              <a:rPr lang="en-US" sz="1150" dirty="0">
                <a:solidFill>
                  <a:srgbClr val="5F7183"/>
                </a:solidFill>
                <a:latin typeface="Calibri" pitchFamily="34" charset="0"/>
                <a:ea typeface="Calibri" pitchFamily="34" charset="-122"/>
                <a:cs typeface="Calibri" pitchFamily="34" charset="-120"/>
              </a:rPr>
              <a:t>Shows when and where demand is highest</a:t>
            </a:r>
            <a:endParaRPr lang="en-US" sz="1150" dirty="0"/>
          </a:p>
          <a:p>
            <a:pPr marL="342900" indent="-342900" algn="l">
              <a:lnSpc>
                <a:spcPct val="125000"/>
              </a:lnSpc>
              <a:buSzPct val="100000"/>
              <a:buChar char="•"/>
            </a:pPr>
            <a:r>
              <a:rPr lang="en-US" sz="1150" dirty="0">
                <a:solidFill>
                  <a:srgbClr val="5F7183"/>
                </a:solidFill>
                <a:latin typeface="Calibri" pitchFamily="34" charset="0"/>
                <a:ea typeface="Calibri" pitchFamily="34" charset="-122"/>
                <a:cs typeface="Calibri" pitchFamily="34" charset="-120"/>
              </a:rPr>
              <a:t>Supports event planning and resourcing</a:t>
            </a:r>
            <a:endParaRPr lang="en-US" sz="1150" dirty="0"/>
          </a:p>
          <a:p>
            <a:pPr marL="342900" indent="-342900" algn="l">
              <a:lnSpc>
                <a:spcPct val="125000"/>
              </a:lnSpc>
              <a:buSzPct val="100000"/>
              <a:buChar char="•"/>
            </a:pPr>
            <a:r>
              <a:rPr lang="en-US" sz="1150" dirty="0">
                <a:solidFill>
                  <a:srgbClr val="5F7183"/>
                </a:solidFill>
                <a:latin typeface="Calibri" pitchFamily="34" charset="0"/>
                <a:ea typeface="Calibri" pitchFamily="34" charset="-122"/>
                <a:cs typeface="Calibri" pitchFamily="34" charset="-120"/>
              </a:rPr>
              <a:t>Helps traders read footfall by time and place</a:t>
            </a:r>
            <a:endParaRPr lang="en-US" sz="1150" dirty="0"/>
          </a:p>
        </p:txBody>
      </p:sp>
      <p:sp>
        <p:nvSpPr>
          <p:cNvPr id="13" name="Text 10"/>
          <p:cNvSpPr/>
          <p:nvPr/>
        </p:nvSpPr>
        <p:spPr>
          <a:xfrm>
            <a:off x="457200" y="6400800"/>
            <a:ext cx="7315200" cy="274320"/>
          </a:xfrm>
          <a:prstGeom prst="rect">
            <a:avLst/>
          </a:prstGeom>
          <a:noFill/>
          <a:ln/>
        </p:spPr>
        <p:txBody>
          <a:bodyPr wrap="square" lIns="0" tIns="0" rIns="0" bIns="0" rtlCol="0" anchor="ctr"/>
          <a:lstStyle/>
          <a:p>
            <a:pPr marL="0" indent="0" algn="l">
              <a:buNone/>
            </a:pPr>
            <a:r>
              <a:rPr lang="en-US" sz="900" dirty="0">
                <a:solidFill>
                  <a:srgbClr val="5F7183"/>
                </a:solidFill>
                <a:latin typeface="Calibri" pitchFamily="34" charset="0"/>
                <a:ea typeface="Calibri" pitchFamily="34" charset="-122"/>
                <a:cs typeface="Calibri" pitchFamily="34" charset="-120"/>
              </a:rPr>
              <a:t>NIT2202 Big Data  ·  Team Presentation</a:t>
            </a:r>
            <a:endParaRPr lang="en-US" sz="900" dirty="0"/>
          </a:p>
        </p:txBody>
      </p:sp>
      <p:sp>
        <p:nvSpPr>
          <p:cNvPr id="14" name="Text 11"/>
          <p:cNvSpPr/>
          <p:nvPr/>
        </p:nvSpPr>
        <p:spPr>
          <a:xfrm>
            <a:off x="11247120" y="6400800"/>
            <a:ext cx="502920" cy="274320"/>
          </a:xfrm>
          <a:prstGeom prst="rect">
            <a:avLst/>
          </a:prstGeom>
          <a:noFill/>
          <a:ln/>
        </p:spPr>
        <p:txBody>
          <a:bodyPr wrap="square" lIns="0" tIns="0" rIns="0" bIns="0" rtlCol="0" anchor="ctr"/>
          <a:lstStyle/>
          <a:p>
            <a:pPr marL="0" indent="0" algn="r">
              <a:buNone/>
            </a:pPr>
            <a:r>
              <a:rPr lang="en-US" sz="900" dirty="0">
                <a:solidFill>
                  <a:srgbClr val="5F7183"/>
                </a:solidFill>
                <a:latin typeface="Calibri" pitchFamily="34" charset="0"/>
                <a:ea typeface="Calibri" pitchFamily="34" charset="-122"/>
                <a:cs typeface="Calibri" pitchFamily="34" charset="-120"/>
              </a:rPr>
              <a:t>5</a:t>
            </a:r>
            <a:endParaRPr lang="en-US" sz="900" dirty="0"/>
          </a:p>
        </p:txBody>
      </p:sp>
      <p:pic>
        <p:nvPicPr>
          <p:cNvPr id="15" name="Picture 14">
            <a:extLst>
              <a:ext uri="{FF2B5EF4-FFF2-40B4-BE49-F238E27FC236}">
                <a16:creationId xmlns:a16="http://schemas.microsoft.com/office/drawing/2014/main" id="{3290871B-62AB-C87A-0E8F-7319B9E59238}"/>
              </a:ext>
            </a:extLst>
          </p:cNvPr>
          <p:cNvPicPr>
            <a:picLocks noChangeAspect="1"/>
          </p:cNvPicPr>
          <p:nvPr/>
        </p:nvPicPr>
        <p:blipFill>
          <a:blip r:embed="rId4"/>
          <a:stretch>
            <a:fillRect/>
          </a:stretch>
        </p:blipFill>
        <p:spPr>
          <a:xfrm>
            <a:off x="0" y="0"/>
            <a:ext cx="12192000" cy="6858000"/>
          </a:xfrm>
          <a:prstGeom prst="rect">
            <a:avLst/>
          </a:prstGeom>
        </p:spPr>
      </p:pic>
      <p:pic>
        <p:nvPicPr>
          <p:cNvPr id="16" name="Picture 15">
            <a:extLst>
              <a:ext uri="{FF2B5EF4-FFF2-40B4-BE49-F238E27FC236}">
                <a16:creationId xmlns:a16="http://schemas.microsoft.com/office/drawing/2014/main" id="{AFEE917F-F4BB-6A64-24AA-DEF08E1C5FC0}"/>
              </a:ext>
            </a:extLst>
          </p:cNvPr>
          <p:cNvPicPr>
            <a:picLocks noChangeAspect="1"/>
          </p:cNvPicPr>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845031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6400800"/>
            <a:ext cx="11144250" cy="266700"/>
          </a:xfrm>
          <a:prstGeom prst="rect">
            <a:avLst/>
          </a:prstGeom>
        </p:spPr>
      </p:pic>
      <p:pic>
        <p:nvPicPr>
          <p:cNvPr id="4" name="Picture 3" descr="image.png"/>
          <p:cNvPicPr>
            <a:picLocks noChangeAspect="1"/>
          </p:cNvPicPr>
          <p:nvPr/>
        </p:nvPicPr>
        <p:blipFill>
          <a:blip r:embed="rId4"/>
          <a:stretch>
            <a:fillRect/>
          </a:stretch>
        </p:blipFill>
        <p:spPr>
          <a:xfrm>
            <a:off x="6262687" y="1504950"/>
            <a:ext cx="5405437" cy="4572000"/>
          </a:xfrm>
          <a:prstGeom prst="rect">
            <a:avLst/>
          </a:prstGeom>
        </p:spPr>
      </p:pic>
      <p:pic>
        <p:nvPicPr>
          <p:cNvPr id="5" name="Picture 4" descr="image.png"/>
          <p:cNvPicPr>
            <a:picLocks noChangeAspect="1"/>
          </p:cNvPicPr>
          <p:nvPr/>
        </p:nvPicPr>
        <p:blipFill>
          <a:blip r:embed="rId5"/>
          <a:stretch>
            <a:fillRect/>
          </a:stretch>
        </p:blipFill>
        <p:spPr>
          <a:xfrm>
            <a:off x="523875" y="1395412"/>
            <a:ext cx="5405437" cy="1228725"/>
          </a:xfrm>
          <a:prstGeom prst="rect">
            <a:avLst/>
          </a:prstGeom>
        </p:spPr>
      </p:pic>
      <p:pic>
        <p:nvPicPr>
          <p:cNvPr id="6" name="Picture 5" descr="image.png"/>
          <p:cNvPicPr>
            <a:picLocks noChangeAspect="1"/>
          </p:cNvPicPr>
          <p:nvPr/>
        </p:nvPicPr>
        <p:blipFill>
          <a:blip r:embed="rId6"/>
          <a:stretch>
            <a:fillRect/>
          </a:stretch>
        </p:blipFill>
        <p:spPr>
          <a:xfrm>
            <a:off x="523875" y="2776537"/>
            <a:ext cx="5405437" cy="1028700"/>
          </a:xfrm>
          <a:prstGeom prst="rect">
            <a:avLst/>
          </a:prstGeom>
        </p:spPr>
      </p:pic>
      <p:pic>
        <p:nvPicPr>
          <p:cNvPr id="7" name="Picture 6" descr="image.png"/>
          <p:cNvPicPr>
            <a:picLocks noChangeAspect="1"/>
          </p:cNvPicPr>
          <p:nvPr/>
        </p:nvPicPr>
        <p:blipFill>
          <a:blip r:embed="rId7"/>
          <a:stretch>
            <a:fillRect/>
          </a:stretch>
        </p:blipFill>
        <p:spPr>
          <a:xfrm>
            <a:off x="523875" y="3957637"/>
            <a:ext cx="5405437" cy="1038225"/>
          </a:xfrm>
          <a:prstGeom prst="rect">
            <a:avLst/>
          </a:prstGeom>
        </p:spPr>
      </p:pic>
      <p:pic>
        <p:nvPicPr>
          <p:cNvPr id="8" name="Picture 7" descr="image.png"/>
          <p:cNvPicPr>
            <a:picLocks noChangeAspect="1"/>
          </p:cNvPicPr>
          <p:nvPr/>
        </p:nvPicPr>
        <p:blipFill>
          <a:blip r:embed="rId7"/>
          <a:stretch>
            <a:fillRect/>
          </a:stretch>
        </p:blipFill>
        <p:spPr>
          <a:xfrm>
            <a:off x="523875" y="5148262"/>
            <a:ext cx="5405437" cy="1038225"/>
          </a:xfrm>
          <a:prstGeom prst="rect">
            <a:avLst/>
          </a:prstGeom>
        </p:spPr>
      </p:pic>
      <p:sp>
        <p:nvSpPr>
          <p:cNvPr id="9" name="TextBox 8"/>
          <p:cNvSpPr txBox="1"/>
          <p:nvPr/>
        </p:nvSpPr>
        <p:spPr>
          <a:xfrm>
            <a:off x="876300" y="428625"/>
            <a:ext cx="11315700" cy="485775"/>
          </a:xfrm>
          <a:prstGeom prst="rect">
            <a:avLst/>
          </a:prstGeom>
          <a:noFill/>
        </p:spPr>
        <p:txBody>
          <a:bodyPr wrap="square" lIns="0" tIns="0" rIns="0" bIns="0" anchor="ctr">
            <a:spAutoFit/>
          </a:bodyPr>
          <a:lstStyle/>
          <a:p>
            <a:pPr algn="l"/>
            <a:r>
              <a:rPr sz="2550" b="1" i="0" u="none">
                <a:solidFill>
                  <a:srgbClr val="0F172A"/>
                </a:solidFill>
                <a:latin typeface="Poppins"/>
              </a:rPr>
              <a:t>Data Source &amp; Synchronization</a:t>
            </a:r>
          </a:p>
        </p:txBody>
      </p:sp>
      <p:pic>
        <p:nvPicPr>
          <p:cNvPr id="10" name="Picture 9" descr="image.png"/>
          <p:cNvPicPr>
            <a:picLocks noChangeAspect="1"/>
          </p:cNvPicPr>
          <p:nvPr/>
        </p:nvPicPr>
        <p:blipFill>
          <a:blip r:embed="rId8"/>
          <a:stretch>
            <a:fillRect/>
          </a:stretch>
        </p:blipFill>
        <p:spPr>
          <a:xfrm>
            <a:off x="523875" y="538162"/>
            <a:ext cx="238125" cy="266700"/>
          </a:xfrm>
          <a:prstGeom prst="rect">
            <a:avLst/>
          </a:prstGeom>
        </p:spPr>
      </p:pic>
      <p:sp>
        <p:nvSpPr>
          <p:cNvPr id="11" name="TextBox 10"/>
          <p:cNvSpPr txBox="1"/>
          <p:nvPr/>
        </p:nvSpPr>
        <p:spPr>
          <a:xfrm>
            <a:off x="523875" y="6524625"/>
            <a:ext cx="1057275" cy="142875"/>
          </a:xfrm>
          <a:prstGeom prst="rect">
            <a:avLst/>
          </a:prstGeom>
          <a:noFill/>
        </p:spPr>
        <p:txBody>
          <a:bodyPr wrap="square" lIns="0" tIns="0" rIns="0" bIns="0" anchor="t">
            <a:spAutoFit/>
          </a:bodyPr>
          <a:lstStyle/>
          <a:p>
            <a:pPr algn="l"/>
            <a:r>
              <a:rPr sz="900" b="0" i="0" u="none">
                <a:solidFill>
                  <a:srgbClr val="94A3B8"/>
                </a:solidFill>
                <a:latin typeface="Inter"/>
              </a:rPr>
              <a:t>Data Pipeline Setup</a:t>
            </a:r>
          </a:p>
        </p:txBody>
      </p:sp>
      <p:sp>
        <p:nvSpPr>
          <p:cNvPr id="12" name="TextBox 11"/>
          <p:cNvSpPr txBox="1"/>
          <p:nvPr/>
        </p:nvSpPr>
        <p:spPr>
          <a:xfrm>
            <a:off x="11068050" y="6524625"/>
            <a:ext cx="600075" cy="142875"/>
          </a:xfrm>
          <a:prstGeom prst="rect">
            <a:avLst/>
          </a:prstGeom>
          <a:noFill/>
        </p:spPr>
        <p:txBody>
          <a:bodyPr wrap="square" lIns="0" tIns="0" rIns="0" bIns="0" anchor="t">
            <a:spAutoFit/>
          </a:bodyPr>
          <a:lstStyle/>
          <a:p>
            <a:pPr algn="l"/>
            <a:r>
              <a:rPr sz="900" b="0" i="0" u="none">
                <a:solidFill>
                  <a:srgbClr val="94A3B8"/>
                </a:solidFill>
                <a:latin typeface="Inter"/>
              </a:rPr>
              <a:t>Slide 2 of 4</a:t>
            </a:r>
          </a:p>
        </p:txBody>
      </p:sp>
      <p:pic>
        <p:nvPicPr>
          <p:cNvPr id="13" name="Picture 12" descr="image.png"/>
          <p:cNvPicPr>
            <a:picLocks noChangeAspect="1"/>
          </p:cNvPicPr>
          <p:nvPr/>
        </p:nvPicPr>
        <p:blipFill>
          <a:blip r:embed="rId9"/>
          <a:stretch>
            <a:fillRect/>
          </a:stretch>
        </p:blipFill>
        <p:spPr>
          <a:xfrm>
            <a:off x="6272212" y="1514475"/>
            <a:ext cx="5386387" cy="4552950"/>
          </a:xfrm>
          <a:prstGeom prst="rect">
            <a:avLst/>
          </a:prstGeom>
        </p:spPr>
      </p:pic>
      <p:sp>
        <p:nvSpPr>
          <p:cNvPr id="14" name="TextBox 13"/>
          <p:cNvSpPr txBox="1"/>
          <p:nvPr/>
        </p:nvSpPr>
        <p:spPr>
          <a:xfrm>
            <a:off x="752475" y="1547812"/>
            <a:ext cx="5235654" cy="257175"/>
          </a:xfrm>
          <a:prstGeom prst="rect">
            <a:avLst/>
          </a:prstGeom>
          <a:noFill/>
        </p:spPr>
        <p:txBody>
          <a:bodyPr wrap="square" lIns="0" tIns="0" rIns="0" bIns="0" anchor="t">
            <a:spAutoFit/>
          </a:bodyPr>
          <a:lstStyle/>
          <a:p>
            <a:pPr algn="l"/>
            <a:r>
              <a:rPr sz="1350" b="0" i="0" u="none">
                <a:solidFill>
                  <a:srgbClr val="1E293B"/>
                </a:solidFill>
                <a:latin typeface="Poppins SemiBold"/>
              </a:rPr>
              <a:t>Dataset Specifications</a:t>
            </a:r>
          </a:p>
        </p:txBody>
      </p:sp>
      <p:sp>
        <p:nvSpPr>
          <p:cNvPr id="15" name="TextBox 14"/>
          <p:cNvSpPr txBox="1"/>
          <p:nvPr/>
        </p:nvSpPr>
        <p:spPr>
          <a:xfrm>
            <a:off x="752475" y="1862137"/>
            <a:ext cx="4986337" cy="609600"/>
          </a:xfrm>
          <a:prstGeom prst="rect">
            <a:avLst/>
          </a:prstGeom>
          <a:noFill/>
        </p:spPr>
        <p:txBody>
          <a:bodyPr wrap="square" lIns="0" tIns="0" rIns="0" bIns="0" anchor="t">
            <a:spAutoFit/>
          </a:bodyPr>
          <a:lstStyle/>
          <a:p>
            <a:pPr algn="l">
              <a:lnSpc>
                <a:spcPts val="1575"/>
              </a:lnSpc>
            </a:pPr>
            <a:r>
              <a:rPr sz="1050" b="1" i="0" u="none">
                <a:solidFill>
                  <a:srgbClr val="64748B"/>
                </a:solidFill>
                <a:latin typeface="Inter"/>
              </a:rPr>
              <a:t>Sydney Pedestrian Walking Count Survey</a:t>
            </a:r>
            <a:r>
              <a:rPr sz="1050" b="0" i="0" u="none">
                <a:solidFill>
                  <a:srgbClr val="64748B"/>
                </a:solidFill>
                <a:latin typeface="Inter"/>
              </a:rPr>
              <a:t> (Walking_count_surveys.csv). Contains location IDs, descriptions, periods, and hourly counts (06:00 to 23:00).</a:t>
            </a:r>
          </a:p>
        </p:txBody>
      </p:sp>
      <p:sp>
        <p:nvSpPr>
          <p:cNvPr id="16" name="TextBox 15"/>
          <p:cNvSpPr txBox="1"/>
          <p:nvPr/>
        </p:nvSpPr>
        <p:spPr>
          <a:xfrm>
            <a:off x="752475" y="2928937"/>
            <a:ext cx="5235654" cy="257175"/>
          </a:xfrm>
          <a:prstGeom prst="rect">
            <a:avLst/>
          </a:prstGeom>
          <a:noFill/>
        </p:spPr>
        <p:txBody>
          <a:bodyPr wrap="square" lIns="0" tIns="0" rIns="0" bIns="0" anchor="t">
            <a:spAutoFit/>
          </a:bodyPr>
          <a:lstStyle/>
          <a:p>
            <a:pPr algn="l"/>
            <a:r>
              <a:rPr sz="1350" b="0" i="0" u="none">
                <a:solidFill>
                  <a:srgbClr val="1E293B"/>
                </a:solidFill>
                <a:latin typeface="Poppins SemiBold"/>
              </a:rPr>
              <a:t>AWS S3 &amp; IAM Configuration</a:t>
            </a:r>
          </a:p>
        </p:txBody>
      </p:sp>
      <p:sp>
        <p:nvSpPr>
          <p:cNvPr id="17" name="TextBox 16"/>
          <p:cNvSpPr txBox="1"/>
          <p:nvPr/>
        </p:nvSpPr>
        <p:spPr>
          <a:xfrm>
            <a:off x="752475" y="3243262"/>
            <a:ext cx="4986337" cy="4095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Stored in ap-southeast-2. IAM Role Assumption configured with custom External ID to prevent confused deputy security attacks.</a:t>
            </a:r>
          </a:p>
        </p:txBody>
      </p:sp>
      <p:sp>
        <p:nvSpPr>
          <p:cNvPr id="18" name="TextBox 17"/>
          <p:cNvSpPr txBox="1"/>
          <p:nvPr/>
        </p:nvSpPr>
        <p:spPr>
          <a:xfrm>
            <a:off x="752475" y="4110037"/>
            <a:ext cx="5235654" cy="257175"/>
          </a:xfrm>
          <a:prstGeom prst="rect">
            <a:avLst/>
          </a:prstGeom>
          <a:noFill/>
        </p:spPr>
        <p:txBody>
          <a:bodyPr wrap="square" lIns="0" tIns="0" rIns="0" bIns="0" anchor="t">
            <a:spAutoFit/>
          </a:bodyPr>
          <a:lstStyle/>
          <a:p>
            <a:pPr algn="l"/>
            <a:r>
              <a:rPr sz="1350" b="0" i="0" u="none">
                <a:solidFill>
                  <a:srgbClr val="1E293B"/>
                </a:solidFill>
                <a:latin typeface="Poppins SemiBold"/>
              </a:rPr>
              <a:t>Snowflake Pipeline Integration</a:t>
            </a:r>
          </a:p>
        </p:txBody>
      </p:sp>
      <p:sp>
        <p:nvSpPr>
          <p:cNvPr id="19" name="TextBox 18"/>
          <p:cNvSpPr txBox="1"/>
          <p:nvPr/>
        </p:nvSpPr>
        <p:spPr>
          <a:xfrm>
            <a:off x="752475" y="4424362"/>
            <a:ext cx="4986337" cy="419100"/>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Created WALKING_DB database and WALKING_SCHEMA. Executed CREATE STORAGE INTEGRATION snowflake_user for automated AWS trust.</a:t>
            </a:r>
          </a:p>
        </p:txBody>
      </p:sp>
      <p:sp>
        <p:nvSpPr>
          <p:cNvPr id="20" name="TextBox 19"/>
          <p:cNvSpPr txBox="1"/>
          <p:nvPr/>
        </p:nvSpPr>
        <p:spPr>
          <a:xfrm>
            <a:off x="752475" y="5300662"/>
            <a:ext cx="5235654" cy="257175"/>
          </a:xfrm>
          <a:prstGeom prst="rect">
            <a:avLst/>
          </a:prstGeom>
          <a:noFill/>
        </p:spPr>
        <p:txBody>
          <a:bodyPr wrap="square" lIns="0" tIns="0" rIns="0" bIns="0" anchor="t">
            <a:spAutoFit/>
          </a:bodyPr>
          <a:lstStyle/>
          <a:p>
            <a:pPr algn="l"/>
            <a:r>
              <a:rPr sz="1350" b="0" i="0" u="none">
                <a:solidFill>
                  <a:srgbClr val="1E293B"/>
                </a:solidFill>
                <a:latin typeface="Poppins SemiBold"/>
              </a:rPr>
              <a:t>Stage &amp; COPY Data Load</a:t>
            </a:r>
          </a:p>
        </p:txBody>
      </p:sp>
      <p:sp>
        <p:nvSpPr>
          <p:cNvPr id="21" name="TextBox 20"/>
          <p:cNvSpPr txBox="1"/>
          <p:nvPr/>
        </p:nvSpPr>
        <p:spPr>
          <a:xfrm>
            <a:off x="752475" y="5614987"/>
            <a:ext cx="4986337" cy="419100"/>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Defined WALKING_STAGE pointing to S3 bucket and executed COPY INTO WALKING_COUNTS for continuous table synchronization.</a:t>
            </a:r>
          </a:p>
        </p:txBody>
      </p:sp>
      <p:pic>
        <p:nvPicPr>
          <p:cNvPr id="22" name="Picture 21">
            <a:extLst>
              <a:ext uri="{FF2B5EF4-FFF2-40B4-BE49-F238E27FC236}">
                <a16:creationId xmlns:a16="http://schemas.microsoft.com/office/drawing/2014/main" id="{F0646936-1A89-C30B-FB10-A3E72E2C73F7}"/>
              </a:ext>
            </a:extLst>
          </p:cNvPr>
          <p:cNvPicPr>
            <a:picLocks noChangeAspect="1"/>
          </p:cNvPicPr>
          <p:nvPr/>
        </p:nvPicPr>
        <p:blipFill>
          <a:blip r:embed="rId10"/>
          <a:stretch>
            <a:fillRect/>
          </a:stretch>
        </p:blipFill>
        <p:spPr>
          <a:xfrm>
            <a:off x="0" y="0"/>
            <a:ext cx="12192000" cy="6858000"/>
          </a:xfrm>
          <a:prstGeom prst="rect">
            <a:avLst/>
          </a:prstGeom>
        </p:spPr>
      </p:pic>
    </p:spTree>
    <p:extLst>
      <p:ext uri="{BB962C8B-B14F-4D97-AF65-F5344CB8AC3E}">
        <p14:creationId xmlns:p14="http://schemas.microsoft.com/office/powerpoint/2010/main" val="378538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6400800"/>
            <a:ext cx="11144250" cy="266700"/>
          </a:xfrm>
          <a:prstGeom prst="rect">
            <a:avLst/>
          </a:prstGeom>
        </p:spPr>
      </p:pic>
      <p:pic>
        <p:nvPicPr>
          <p:cNvPr id="4" name="Picture 3" descr="image.png"/>
          <p:cNvPicPr>
            <a:picLocks noChangeAspect="1"/>
          </p:cNvPicPr>
          <p:nvPr/>
        </p:nvPicPr>
        <p:blipFill>
          <a:blip r:embed="rId4"/>
          <a:stretch>
            <a:fillRect/>
          </a:stretch>
        </p:blipFill>
        <p:spPr>
          <a:xfrm>
            <a:off x="523875" y="2289423"/>
            <a:ext cx="3555950" cy="3003053"/>
          </a:xfrm>
          <a:prstGeom prst="rect">
            <a:avLst/>
          </a:prstGeom>
        </p:spPr>
      </p:pic>
      <p:pic>
        <p:nvPicPr>
          <p:cNvPr id="5" name="Picture 4" descr="image.png"/>
          <p:cNvPicPr>
            <a:picLocks noChangeAspect="1"/>
          </p:cNvPicPr>
          <p:nvPr/>
        </p:nvPicPr>
        <p:blipFill>
          <a:blip r:embed="rId5"/>
          <a:stretch>
            <a:fillRect/>
          </a:stretch>
        </p:blipFill>
        <p:spPr>
          <a:xfrm>
            <a:off x="4317950" y="2289423"/>
            <a:ext cx="3555950" cy="3003053"/>
          </a:xfrm>
          <a:prstGeom prst="rect">
            <a:avLst/>
          </a:prstGeom>
        </p:spPr>
      </p:pic>
      <p:pic>
        <p:nvPicPr>
          <p:cNvPr id="6" name="Picture 5" descr="image.png"/>
          <p:cNvPicPr>
            <a:picLocks noChangeAspect="1"/>
          </p:cNvPicPr>
          <p:nvPr/>
        </p:nvPicPr>
        <p:blipFill>
          <a:blip r:embed="rId6"/>
          <a:stretch>
            <a:fillRect/>
          </a:stretch>
        </p:blipFill>
        <p:spPr>
          <a:xfrm>
            <a:off x="8112025" y="2289423"/>
            <a:ext cx="3555950" cy="3003053"/>
          </a:xfrm>
          <a:prstGeom prst="rect">
            <a:avLst/>
          </a:prstGeom>
        </p:spPr>
      </p:pic>
      <p:sp>
        <p:nvSpPr>
          <p:cNvPr id="7" name="TextBox 6"/>
          <p:cNvSpPr txBox="1"/>
          <p:nvPr/>
        </p:nvSpPr>
        <p:spPr>
          <a:xfrm>
            <a:off x="971550" y="428625"/>
            <a:ext cx="11220450" cy="485775"/>
          </a:xfrm>
          <a:prstGeom prst="rect">
            <a:avLst/>
          </a:prstGeom>
          <a:noFill/>
        </p:spPr>
        <p:txBody>
          <a:bodyPr wrap="square" lIns="0" tIns="0" rIns="0" bIns="0" anchor="ctr">
            <a:spAutoFit/>
          </a:bodyPr>
          <a:lstStyle/>
          <a:p>
            <a:pPr algn="l"/>
            <a:r>
              <a:rPr sz="2550" b="1" i="0" u="none">
                <a:solidFill>
                  <a:srgbClr val="0F172A"/>
                </a:solidFill>
                <a:latin typeface="Poppins"/>
              </a:rPr>
              <a:t>Target Consumers &amp; Stakeholders</a:t>
            </a:r>
          </a:p>
        </p:txBody>
      </p:sp>
      <p:pic>
        <p:nvPicPr>
          <p:cNvPr id="8" name="Picture 7" descr="image.png"/>
          <p:cNvPicPr>
            <a:picLocks noChangeAspect="1"/>
          </p:cNvPicPr>
          <p:nvPr/>
        </p:nvPicPr>
        <p:blipFill>
          <a:blip r:embed="rId7"/>
          <a:stretch>
            <a:fillRect/>
          </a:stretch>
        </p:blipFill>
        <p:spPr>
          <a:xfrm>
            <a:off x="523875" y="538162"/>
            <a:ext cx="333375" cy="266700"/>
          </a:xfrm>
          <a:prstGeom prst="rect">
            <a:avLst/>
          </a:prstGeom>
        </p:spPr>
      </p:pic>
      <p:sp>
        <p:nvSpPr>
          <p:cNvPr id="9" name="TextBox 8"/>
          <p:cNvSpPr txBox="1"/>
          <p:nvPr/>
        </p:nvSpPr>
        <p:spPr>
          <a:xfrm>
            <a:off x="523875" y="6524625"/>
            <a:ext cx="1609725" cy="142875"/>
          </a:xfrm>
          <a:prstGeom prst="rect">
            <a:avLst/>
          </a:prstGeom>
          <a:noFill/>
        </p:spPr>
        <p:txBody>
          <a:bodyPr wrap="square" lIns="0" tIns="0" rIns="0" bIns="0" anchor="t">
            <a:spAutoFit/>
          </a:bodyPr>
          <a:lstStyle/>
          <a:p>
            <a:pPr algn="l"/>
            <a:r>
              <a:rPr sz="900" b="0" i="0" u="none">
                <a:solidFill>
                  <a:srgbClr val="94A3B8"/>
                </a:solidFill>
                <a:latin typeface="Inter"/>
              </a:rPr>
              <a:t>Stakeholder Value &amp; Analytics</a:t>
            </a:r>
          </a:p>
        </p:txBody>
      </p:sp>
      <p:sp>
        <p:nvSpPr>
          <p:cNvPr id="10" name="TextBox 9"/>
          <p:cNvSpPr txBox="1"/>
          <p:nvPr/>
        </p:nvSpPr>
        <p:spPr>
          <a:xfrm>
            <a:off x="11068050" y="6524625"/>
            <a:ext cx="600075" cy="142875"/>
          </a:xfrm>
          <a:prstGeom prst="rect">
            <a:avLst/>
          </a:prstGeom>
          <a:noFill/>
        </p:spPr>
        <p:txBody>
          <a:bodyPr wrap="square" lIns="0" tIns="0" rIns="0" bIns="0" anchor="t">
            <a:spAutoFit/>
          </a:bodyPr>
          <a:lstStyle/>
          <a:p>
            <a:pPr algn="l"/>
            <a:r>
              <a:rPr sz="900" b="0" i="0" u="none">
                <a:solidFill>
                  <a:srgbClr val="94A3B8"/>
                </a:solidFill>
                <a:latin typeface="Inter"/>
              </a:rPr>
              <a:t>Slide 3 of 4</a:t>
            </a:r>
          </a:p>
        </p:txBody>
      </p:sp>
      <p:pic>
        <p:nvPicPr>
          <p:cNvPr id="11" name="Picture 10" descr="image.png"/>
          <p:cNvPicPr>
            <a:picLocks noChangeAspect="1"/>
          </p:cNvPicPr>
          <p:nvPr/>
        </p:nvPicPr>
        <p:blipFill>
          <a:blip r:embed="rId8"/>
          <a:stretch>
            <a:fillRect/>
          </a:stretch>
        </p:blipFill>
        <p:spPr>
          <a:xfrm>
            <a:off x="762000" y="2584698"/>
            <a:ext cx="514350" cy="514350"/>
          </a:xfrm>
          <a:prstGeom prst="rect">
            <a:avLst/>
          </a:prstGeom>
        </p:spPr>
      </p:pic>
      <p:sp>
        <p:nvSpPr>
          <p:cNvPr id="12" name="TextBox 11"/>
          <p:cNvSpPr txBox="1"/>
          <p:nvPr/>
        </p:nvSpPr>
        <p:spPr>
          <a:xfrm>
            <a:off x="762000" y="3289548"/>
            <a:ext cx="2260282" cy="285750"/>
          </a:xfrm>
          <a:prstGeom prst="rect">
            <a:avLst/>
          </a:prstGeom>
          <a:noFill/>
        </p:spPr>
        <p:txBody>
          <a:bodyPr wrap="square" lIns="0" tIns="0" rIns="0" bIns="0" anchor="t">
            <a:spAutoFit/>
          </a:bodyPr>
          <a:lstStyle/>
          <a:p>
            <a:pPr algn="l"/>
            <a:r>
              <a:rPr sz="1500" b="1" i="0" u="none">
                <a:solidFill>
                  <a:srgbClr val="0F172A"/>
                </a:solidFill>
                <a:latin typeface="Poppins"/>
              </a:rPr>
              <a:t>Urban &amp; City Planners</a:t>
            </a:r>
          </a:p>
        </p:txBody>
      </p:sp>
      <p:sp>
        <p:nvSpPr>
          <p:cNvPr id="13" name="TextBox 12"/>
          <p:cNvSpPr txBox="1"/>
          <p:nvPr/>
        </p:nvSpPr>
        <p:spPr>
          <a:xfrm>
            <a:off x="762000" y="3689598"/>
            <a:ext cx="3079700" cy="426541"/>
          </a:xfrm>
          <a:prstGeom prst="rect">
            <a:avLst/>
          </a:prstGeom>
          <a:noFill/>
        </p:spPr>
        <p:txBody>
          <a:bodyPr wrap="square" lIns="0" tIns="0" rIns="0" bIns="0" anchor="t">
            <a:spAutoFit/>
          </a:bodyPr>
          <a:lstStyle/>
          <a:p>
            <a:pPr algn="l">
              <a:lnSpc>
                <a:spcPts val="1679"/>
              </a:lnSpc>
            </a:pPr>
            <a:r>
              <a:rPr sz="1050" b="0" i="0" u="none">
                <a:solidFill>
                  <a:srgbClr val="64748B"/>
                </a:solidFill>
                <a:latin typeface="Inter"/>
              </a:rPr>
              <a:t>Optimize municipal infrastructure and pedestrian mobility across Sydney CBD.</a:t>
            </a:r>
          </a:p>
        </p:txBody>
      </p:sp>
      <p:pic>
        <p:nvPicPr>
          <p:cNvPr id="14" name="Picture 13" descr="image.png"/>
          <p:cNvPicPr>
            <a:picLocks noChangeAspect="1"/>
          </p:cNvPicPr>
          <p:nvPr/>
        </p:nvPicPr>
        <p:blipFill>
          <a:blip r:embed="rId9"/>
          <a:stretch>
            <a:fillRect/>
          </a:stretch>
        </p:blipFill>
        <p:spPr>
          <a:xfrm>
            <a:off x="4556075" y="2584698"/>
            <a:ext cx="514350" cy="514350"/>
          </a:xfrm>
          <a:prstGeom prst="rect">
            <a:avLst/>
          </a:prstGeom>
        </p:spPr>
      </p:pic>
      <p:sp>
        <p:nvSpPr>
          <p:cNvPr id="15" name="TextBox 14"/>
          <p:cNvSpPr txBox="1"/>
          <p:nvPr/>
        </p:nvSpPr>
        <p:spPr>
          <a:xfrm>
            <a:off x="4556075" y="3289548"/>
            <a:ext cx="2150268" cy="285750"/>
          </a:xfrm>
          <a:prstGeom prst="rect">
            <a:avLst/>
          </a:prstGeom>
          <a:noFill/>
        </p:spPr>
        <p:txBody>
          <a:bodyPr wrap="square" lIns="0" tIns="0" rIns="0" bIns="0" anchor="t">
            <a:spAutoFit/>
          </a:bodyPr>
          <a:lstStyle/>
          <a:p>
            <a:pPr algn="l"/>
            <a:r>
              <a:rPr sz="1500" b="1" i="0" u="none">
                <a:solidFill>
                  <a:srgbClr val="0F172A"/>
                </a:solidFill>
                <a:latin typeface="Poppins"/>
              </a:rPr>
              <a:t>Retail &amp; Commercial</a:t>
            </a:r>
          </a:p>
        </p:txBody>
      </p:sp>
      <p:sp>
        <p:nvSpPr>
          <p:cNvPr id="16" name="TextBox 15"/>
          <p:cNvSpPr txBox="1"/>
          <p:nvPr/>
        </p:nvSpPr>
        <p:spPr>
          <a:xfrm>
            <a:off x="4556075" y="3689598"/>
            <a:ext cx="3079700" cy="426541"/>
          </a:xfrm>
          <a:prstGeom prst="rect">
            <a:avLst/>
          </a:prstGeom>
          <a:noFill/>
        </p:spPr>
        <p:txBody>
          <a:bodyPr wrap="square" lIns="0" tIns="0" rIns="0" bIns="0" anchor="t">
            <a:spAutoFit/>
          </a:bodyPr>
          <a:lstStyle/>
          <a:p>
            <a:pPr algn="l">
              <a:lnSpc>
                <a:spcPts val="1679"/>
              </a:lnSpc>
            </a:pPr>
            <a:r>
              <a:rPr sz="1050" b="0" i="0" u="none">
                <a:solidFill>
                  <a:srgbClr val="64748B"/>
                </a:solidFill>
                <a:latin typeface="Inter"/>
              </a:rPr>
              <a:t>Empower commercial developers and business owners with footfall intelligence.</a:t>
            </a:r>
          </a:p>
        </p:txBody>
      </p:sp>
      <p:pic>
        <p:nvPicPr>
          <p:cNvPr id="17" name="Picture 16" descr="image.png"/>
          <p:cNvPicPr>
            <a:picLocks noChangeAspect="1"/>
          </p:cNvPicPr>
          <p:nvPr/>
        </p:nvPicPr>
        <p:blipFill>
          <a:blip r:embed="rId10"/>
          <a:stretch>
            <a:fillRect/>
          </a:stretch>
        </p:blipFill>
        <p:spPr>
          <a:xfrm>
            <a:off x="8350150" y="2584698"/>
            <a:ext cx="514350" cy="514350"/>
          </a:xfrm>
          <a:prstGeom prst="rect">
            <a:avLst/>
          </a:prstGeom>
        </p:spPr>
      </p:pic>
      <p:sp>
        <p:nvSpPr>
          <p:cNvPr id="18" name="TextBox 17"/>
          <p:cNvSpPr txBox="1"/>
          <p:nvPr/>
        </p:nvSpPr>
        <p:spPr>
          <a:xfrm>
            <a:off x="8350150" y="3289548"/>
            <a:ext cx="2360295" cy="285750"/>
          </a:xfrm>
          <a:prstGeom prst="rect">
            <a:avLst/>
          </a:prstGeom>
          <a:noFill/>
        </p:spPr>
        <p:txBody>
          <a:bodyPr wrap="square" lIns="0" tIns="0" rIns="0" bIns="0" anchor="t">
            <a:spAutoFit/>
          </a:bodyPr>
          <a:lstStyle/>
          <a:p>
            <a:pPr algn="l"/>
            <a:r>
              <a:rPr sz="1500" b="1" i="0" u="none">
                <a:solidFill>
                  <a:srgbClr val="0F172A"/>
                </a:solidFill>
                <a:latin typeface="Poppins"/>
              </a:rPr>
              <a:t>Transit &amp; Public Safety</a:t>
            </a:r>
          </a:p>
        </p:txBody>
      </p:sp>
      <p:sp>
        <p:nvSpPr>
          <p:cNvPr id="19" name="TextBox 18"/>
          <p:cNvSpPr txBox="1"/>
          <p:nvPr/>
        </p:nvSpPr>
        <p:spPr>
          <a:xfrm>
            <a:off x="8350150" y="3689598"/>
            <a:ext cx="3079700" cy="426541"/>
          </a:xfrm>
          <a:prstGeom prst="rect">
            <a:avLst/>
          </a:prstGeom>
          <a:noFill/>
        </p:spPr>
        <p:txBody>
          <a:bodyPr wrap="square" lIns="0" tIns="0" rIns="0" bIns="0" anchor="t">
            <a:spAutoFit/>
          </a:bodyPr>
          <a:lstStyle/>
          <a:p>
            <a:pPr algn="l">
              <a:lnSpc>
                <a:spcPts val="1679"/>
              </a:lnSpc>
            </a:pPr>
            <a:r>
              <a:rPr sz="1050" b="0" i="0" u="none">
                <a:solidFill>
                  <a:srgbClr val="64748B"/>
                </a:solidFill>
                <a:latin typeface="Inter"/>
              </a:rPr>
              <a:t>Enhance public transport alignment and municipal emergency management.</a:t>
            </a:r>
          </a:p>
        </p:txBody>
      </p:sp>
      <p:pic>
        <p:nvPicPr>
          <p:cNvPr id="20" name="Picture 19" descr="image.png"/>
          <p:cNvPicPr>
            <a:picLocks noChangeAspect="1"/>
          </p:cNvPicPr>
          <p:nvPr/>
        </p:nvPicPr>
        <p:blipFill>
          <a:blip r:embed="rId11"/>
          <a:stretch>
            <a:fillRect/>
          </a:stretch>
        </p:blipFill>
        <p:spPr>
          <a:xfrm>
            <a:off x="876300" y="2727573"/>
            <a:ext cx="285750" cy="228600"/>
          </a:xfrm>
          <a:prstGeom prst="rect">
            <a:avLst/>
          </a:prstGeom>
        </p:spPr>
      </p:pic>
      <p:sp>
        <p:nvSpPr>
          <p:cNvPr id="21" name="TextBox 20"/>
          <p:cNvSpPr txBox="1"/>
          <p:nvPr/>
        </p:nvSpPr>
        <p:spPr>
          <a:xfrm>
            <a:off x="933450" y="4211389"/>
            <a:ext cx="22764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Sidewalk widening &amp; zone planning</a:t>
            </a:r>
          </a:p>
        </p:txBody>
      </p:sp>
      <p:sp>
        <p:nvSpPr>
          <p:cNvPr id="22" name="TextBox 21"/>
          <p:cNvSpPr txBox="1"/>
          <p:nvPr/>
        </p:nvSpPr>
        <p:spPr>
          <a:xfrm>
            <a:off x="933450" y="4473326"/>
            <a:ext cx="22764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Traffic signal timing calibration</a:t>
            </a:r>
          </a:p>
        </p:txBody>
      </p:sp>
      <p:sp>
        <p:nvSpPr>
          <p:cNvPr id="23" name="TextBox 22"/>
          <p:cNvSpPr txBox="1"/>
          <p:nvPr/>
        </p:nvSpPr>
        <p:spPr>
          <a:xfrm>
            <a:off x="933450" y="4735264"/>
            <a:ext cx="22764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Pedestrian corridor safety assessment</a:t>
            </a:r>
          </a:p>
        </p:txBody>
      </p:sp>
      <p:pic>
        <p:nvPicPr>
          <p:cNvPr id="24" name="Picture 23" descr="image.png"/>
          <p:cNvPicPr>
            <a:picLocks noChangeAspect="1"/>
          </p:cNvPicPr>
          <p:nvPr/>
        </p:nvPicPr>
        <p:blipFill>
          <a:blip r:embed="rId12"/>
          <a:stretch>
            <a:fillRect/>
          </a:stretch>
        </p:blipFill>
        <p:spPr>
          <a:xfrm>
            <a:off x="4684662" y="2727573"/>
            <a:ext cx="257175" cy="228600"/>
          </a:xfrm>
          <a:prstGeom prst="rect">
            <a:avLst/>
          </a:prstGeom>
        </p:spPr>
      </p:pic>
      <p:sp>
        <p:nvSpPr>
          <p:cNvPr id="25" name="TextBox 24"/>
          <p:cNvSpPr txBox="1"/>
          <p:nvPr/>
        </p:nvSpPr>
        <p:spPr>
          <a:xfrm>
            <a:off x="4727525" y="4211389"/>
            <a:ext cx="18192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Optimal store site selection</a:t>
            </a:r>
          </a:p>
        </p:txBody>
      </p:sp>
      <p:sp>
        <p:nvSpPr>
          <p:cNvPr id="26" name="TextBox 25"/>
          <p:cNvSpPr txBox="1"/>
          <p:nvPr/>
        </p:nvSpPr>
        <p:spPr>
          <a:xfrm>
            <a:off x="4727525" y="4473326"/>
            <a:ext cx="18192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Footfall-driven rental valuation</a:t>
            </a:r>
          </a:p>
        </p:txBody>
      </p:sp>
      <p:sp>
        <p:nvSpPr>
          <p:cNvPr id="27" name="TextBox 26"/>
          <p:cNvSpPr txBox="1"/>
          <p:nvPr/>
        </p:nvSpPr>
        <p:spPr>
          <a:xfrm>
            <a:off x="4727525" y="4735264"/>
            <a:ext cx="18192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Peak hour staffing optimization</a:t>
            </a:r>
          </a:p>
        </p:txBody>
      </p:sp>
      <p:pic>
        <p:nvPicPr>
          <p:cNvPr id="28" name="Picture 27" descr="image.png"/>
          <p:cNvPicPr>
            <a:picLocks noChangeAspect="1"/>
          </p:cNvPicPr>
          <p:nvPr/>
        </p:nvPicPr>
        <p:blipFill>
          <a:blip r:embed="rId13"/>
          <a:stretch>
            <a:fillRect/>
          </a:stretch>
        </p:blipFill>
        <p:spPr>
          <a:xfrm>
            <a:off x="8478738" y="2727573"/>
            <a:ext cx="257175" cy="228600"/>
          </a:xfrm>
          <a:prstGeom prst="rect">
            <a:avLst/>
          </a:prstGeom>
        </p:spPr>
      </p:pic>
      <p:sp>
        <p:nvSpPr>
          <p:cNvPr id="29" name="TextBox 28"/>
          <p:cNvSpPr txBox="1"/>
          <p:nvPr/>
        </p:nvSpPr>
        <p:spPr>
          <a:xfrm>
            <a:off x="8521600" y="4211389"/>
            <a:ext cx="22383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Bus &amp; light rail frequency planning</a:t>
            </a:r>
          </a:p>
        </p:txBody>
      </p:sp>
      <p:sp>
        <p:nvSpPr>
          <p:cNvPr id="30" name="TextBox 29"/>
          <p:cNvSpPr txBox="1"/>
          <p:nvPr/>
        </p:nvSpPr>
        <p:spPr>
          <a:xfrm>
            <a:off x="8521600" y="4473326"/>
            <a:ext cx="22383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Major event crowd management</a:t>
            </a:r>
          </a:p>
        </p:txBody>
      </p:sp>
      <p:sp>
        <p:nvSpPr>
          <p:cNvPr id="31" name="TextBox 30"/>
          <p:cNvSpPr txBox="1"/>
          <p:nvPr/>
        </p:nvSpPr>
        <p:spPr>
          <a:xfrm>
            <a:off x="8521600" y="4735264"/>
            <a:ext cx="2238375" cy="185737"/>
          </a:xfrm>
          <a:prstGeom prst="rect">
            <a:avLst/>
          </a:prstGeom>
          <a:noFill/>
        </p:spPr>
        <p:txBody>
          <a:bodyPr wrap="square" lIns="0" tIns="0" rIns="0" bIns="0" anchor="t">
            <a:spAutoFit/>
          </a:bodyPr>
          <a:lstStyle/>
          <a:p>
            <a:pPr algn="l">
              <a:lnSpc>
                <a:spcPts val="1462"/>
              </a:lnSpc>
            </a:pPr>
            <a:r>
              <a:rPr sz="975" b="0" i="0" u="none">
                <a:solidFill>
                  <a:srgbClr val="475569"/>
                </a:solidFill>
                <a:latin typeface="Inter"/>
              </a:rPr>
              <a:t>Emergency evacuation route planning</a:t>
            </a:r>
          </a:p>
        </p:txBody>
      </p:sp>
      <p:sp>
        <p:nvSpPr>
          <p:cNvPr id="32" name="TextBox 31"/>
          <p:cNvSpPr txBox="1"/>
          <p:nvPr/>
        </p:nvSpPr>
        <p:spPr>
          <a:xfrm>
            <a:off x="762000" y="4211389"/>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
        <p:nvSpPr>
          <p:cNvPr id="33" name="TextBox 32"/>
          <p:cNvSpPr txBox="1"/>
          <p:nvPr/>
        </p:nvSpPr>
        <p:spPr>
          <a:xfrm>
            <a:off x="762000" y="4473326"/>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
        <p:nvSpPr>
          <p:cNvPr id="34" name="TextBox 33"/>
          <p:cNvSpPr txBox="1"/>
          <p:nvPr/>
        </p:nvSpPr>
        <p:spPr>
          <a:xfrm>
            <a:off x="762000" y="4735264"/>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
        <p:nvSpPr>
          <p:cNvPr id="35" name="TextBox 34"/>
          <p:cNvSpPr txBox="1"/>
          <p:nvPr/>
        </p:nvSpPr>
        <p:spPr>
          <a:xfrm>
            <a:off x="4556075" y="4211389"/>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
        <p:nvSpPr>
          <p:cNvPr id="36" name="TextBox 35"/>
          <p:cNvSpPr txBox="1"/>
          <p:nvPr/>
        </p:nvSpPr>
        <p:spPr>
          <a:xfrm>
            <a:off x="4556075" y="4473326"/>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
        <p:nvSpPr>
          <p:cNvPr id="37" name="TextBox 36"/>
          <p:cNvSpPr txBox="1"/>
          <p:nvPr/>
        </p:nvSpPr>
        <p:spPr>
          <a:xfrm>
            <a:off x="4556075" y="4735264"/>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
        <p:nvSpPr>
          <p:cNvPr id="38" name="TextBox 37"/>
          <p:cNvSpPr txBox="1"/>
          <p:nvPr/>
        </p:nvSpPr>
        <p:spPr>
          <a:xfrm>
            <a:off x="8350150" y="4211389"/>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
        <p:nvSpPr>
          <p:cNvPr id="39" name="TextBox 38"/>
          <p:cNvSpPr txBox="1"/>
          <p:nvPr/>
        </p:nvSpPr>
        <p:spPr>
          <a:xfrm>
            <a:off x="8350150" y="4473326"/>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
        <p:nvSpPr>
          <p:cNvPr id="40" name="TextBox 39"/>
          <p:cNvSpPr txBox="1"/>
          <p:nvPr/>
        </p:nvSpPr>
        <p:spPr>
          <a:xfrm>
            <a:off x="8350150" y="4735264"/>
            <a:ext cx="66675" cy="190500"/>
          </a:xfrm>
          <a:prstGeom prst="rect">
            <a:avLst/>
          </a:prstGeom>
          <a:noFill/>
        </p:spPr>
        <p:txBody>
          <a:bodyPr wrap="square" lIns="0" tIns="0" rIns="0" bIns="0" anchor="t">
            <a:spAutoFit/>
          </a:bodyPr>
          <a:lstStyle/>
          <a:p>
            <a:pPr algn="l">
              <a:lnSpc>
                <a:spcPts val="1462"/>
              </a:lnSpc>
            </a:pPr>
            <a:r>
              <a:rPr sz="975" b="1" i="0" u="none">
                <a:solidFill>
                  <a:srgbClr val="0284C7"/>
                </a:solidFill>
                <a:latin typeface="Inter"/>
              </a:rPr>
              <a:t>•</a:t>
            </a:r>
          </a:p>
        </p:txBody>
      </p:sp>
    </p:spTree>
    <p:extLst>
      <p:ext uri="{BB962C8B-B14F-4D97-AF65-F5344CB8AC3E}">
        <p14:creationId xmlns:p14="http://schemas.microsoft.com/office/powerpoint/2010/main" val="2758422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6400800"/>
            <a:ext cx="11144250" cy="266700"/>
          </a:xfrm>
          <a:prstGeom prst="rect">
            <a:avLst/>
          </a:prstGeom>
        </p:spPr>
      </p:pic>
      <p:pic>
        <p:nvPicPr>
          <p:cNvPr id="4" name="Picture 3" descr="image.png"/>
          <p:cNvPicPr>
            <a:picLocks noChangeAspect="1"/>
          </p:cNvPicPr>
          <p:nvPr/>
        </p:nvPicPr>
        <p:blipFill>
          <a:blip r:embed="rId4"/>
          <a:stretch>
            <a:fillRect/>
          </a:stretch>
        </p:blipFill>
        <p:spPr>
          <a:xfrm>
            <a:off x="6262687" y="1504950"/>
            <a:ext cx="5405437" cy="4572000"/>
          </a:xfrm>
          <a:prstGeom prst="rect">
            <a:avLst/>
          </a:prstGeom>
        </p:spPr>
      </p:pic>
      <p:pic>
        <p:nvPicPr>
          <p:cNvPr id="5" name="Picture 4" descr="image.png"/>
          <p:cNvPicPr>
            <a:picLocks noChangeAspect="1"/>
          </p:cNvPicPr>
          <p:nvPr/>
        </p:nvPicPr>
        <p:blipFill>
          <a:blip r:embed="rId5"/>
          <a:stretch>
            <a:fillRect/>
          </a:stretch>
        </p:blipFill>
        <p:spPr>
          <a:xfrm>
            <a:off x="523875" y="2990850"/>
            <a:ext cx="5405437" cy="1219200"/>
          </a:xfrm>
          <a:prstGeom prst="rect">
            <a:avLst/>
          </a:prstGeom>
        </p:spPr>
      </p:pic>
      <p:pic>
        <p:nvPicPr>
          <p:cNvPr id="6" name="Picture 5" descr="image.png"/>
          <p:cNvPicPr>
            <a:picLocks noChangeAspect="1"/>
          </p:cNvPicPr>
          <p:nvPr/>
        </p:nvPicPr>
        <p:blipFill>
          <a:blip r:embed="rId6"/>
          <a:stretch>
            <a:fillRect/>
          </a:stretch>
        </p:blipFill>
        <p:spPr>
          <a:xfrm>
            <a:off x="523875" y="4362450"/>
            <a:ext cx="5405437" cy="1419225"/>
          </a:xfrm>
          <a:prstGeom prst="rect">
            <a:avLst/>
          </a:prstGeom>
        </p:spPr>
      </p:pic>
      <p:pic>
        <p:nvPicPr>
          <p:cNvPr id="7" name="Picture 6" descr="image.png"/>
          <p:cNvPicPr>
            <a:picLocks noChangeAspect="1"/>
          </p:cNvPicPr>
          <p:nvPr/>
        </p:nvPicPr>
        <p:blipFill>
          <a:blip r:embed="rId7"/>
          <a:stretch>
            <a:fillRect/>
          </a:stretch>
        </p:blipFill>
        <p:spPr>
          <a:xfrm>
            <a:off x="523875" y="1800225"/>
            <a:ext cx="1706463" cy="847725"/>
          </a:xfrm>
          <a:prstGeom prst="rect">
            <a:avLst/>
          </a:prstGeom>
        </p:spPr>
      </p:pic>
      <p:pic>
        <p:nvPicPr>
          <p:cNvPr id="8" name="Picture 7" descr="image.png"/>
          <p:cNvPicPr>
            <a:picLocks noChangeAspect="1"/>
          </p:cNvPicPr>
          <p:nvPr/>
        </p:nvPicPr>
        <p:blipFill>
          <a:blip r:embed="rId8"/>
          <a:stretch>
            <a:fillRect/>
          </a:stretch>
        </p:blipFill>
        <p:spPr>
          <a:xfrm>
            <a:off x="2373213" y="1800225"/>
            <a:ext cx="1706612" cy="847725"/>
          </a:xfrm>
          <a:prstGeom prst="rect">
            <a:avLst/>
          </a:prstGeom>
        </p:spPr>
      </p:pic>
      <p:pic>
        <p:nvPicPr>
          <p:cNvPr id="9" name="Picture 8" descr="image.png"/>
          <p:cNvPicPr>
            <a:picLocks noChangeAspect="1"/>
          </p:cNvPicPr>
          <p:nvPr/>
        </p:nvPicPr>
        <p:blipFill>
          <a:blip r:embed="rId9"/>
          <a:stretch>
            <a:fillRect/>
          </a:stretch>
        </p:blipFill>
        <p:spPr>
          <a:xfrm>
            <a:off x="4222700" y="1800225"/>
            <a:ext cx="1706612" cy="847725"/>
          </a:xfrm>
          <a:prstGeom prst="rect">
            <a:avLst/>
          </a:prstGeom>
        </p:spPr>
      </p:pic>
      <p:sp>
        <p:nvSpPr>
          <p:cNvPr id="10" name="TextBox 9"/>
          <p:cNvSpPr txBox="1"/>
          <p:nvPr/>
        </p:nvSpPr>
        <p:spPr>
          <a:xfrm>
            <a:off x="904875" y="428625"/>
            <a:ext cx="11287125" cy="485775"/>
          </a:xfrm>
          <a:prstGeom prst="rect">
            <a:avLst/>
          </a:prstGeom>
          <a:noFill/>
        </p:spPr>
        <p:txBody>
          <a:bodyPr wrap="square" lIns="0" tIns="0" rIns="0" bIns="0" anchor="ctr">
            <a:spAutoFit/>
          </a:bodyPr>
          <a:lstStyle/>
          <a:p>
            <a:pPr algn="l"/>
            <a:r>
              <a:rPr sz="2550" b="1" i="0" u="none">
                <a:solidFill>
                  <a:srgbClr val="0F172A"/>
                </a:solidFill>
                <a:latin typeface="Poppins"/>
              </a:rPr>
              <a:t>Insights &amp; Business Value</a:t>
            </a:r>
          </a:p>
        </p:txBody>
      </p:sp>
      <p:pic>
        <p:nvPicPr>
          <p:cNvPr id="11" name="Picture 10" descr="image.png"/>
          <p:cNvPicPr>
            <a:picLocks noChangeAspect="1"/>
          </p:cNvPicPr>
          <p:nvPr/>
        </p:nvPicPr>
        <p:blipFill>
          <a:blip r:embed="rId10"/>
          <a:stretch>
            <a:fillRect/>
          </a:stretch>
        </p:blipFill>
        <p:spPr>
          <a:xfrm>
            <a:off x="523875" y="538162"/>
            <a:ext cx="266700" cy="266700"/>
          </a:xfrm>
          <a:prstGeom prst="rect">
            <a:avLst/>
          </a:prstGeom>
        </p:spPr>
      </p:pic>
      <p:sp>
        <p:nvSpPr>
          <p:cNvPr id="12" name="TextBox 11"/>
          <p:cNvSpPr txBox="1"/>
          <p:nvPr/>
        </p:nvSpPr>
        <p:spPr>
          <a:xfrm>
            <a:off x="523875" y="6524625"/>
            <a:ext cx="1276350" cy="142875"/>
          </a:xfrm>
          <a:prstGeom prst="rect">
            <a:avLst/>
          </a:prstGeom>
          <a:noFill/>
        </p:spPr>
        <p:txBody>
          <a:bodyPr wrap="square" lIns="0" tIns="0" rIns="0" bIns="0" anchor="t">
            <a:spAutoFit/>
          </a:bodyPr>
          <a:lstStyle/>
          <a:p>
            <a:pPr algn="l"/>
            <a:r>
              <a:rPr sz="900" b="0" i="0" u="none">
                <a:solidFill>
                  <a:srgbClr val="94A3B8"/>
                </a:solidFill>
                <a:latin typeface="Inter"/>
              </a:rPr>
              <a:t>Project Summary &amp; ROI</a:t>
            </a:r>
          </a:p>
        </p:txBody>
      </p:sp>
      <p:sp>
        <p:nvSpPr>
          <p:cNvPr id="13" name="TextBox 12"/>
          <p:cNvSpPr txBox="1"/>
          <p:nvPr/>
        </p:nvSpPr>
        <p:spPr>
          <a:xfrm>
            <a:off x="11058525" y="6524625"/>
            <a:ext cx="609600" cy="142875"/>
          </a:xfrm>
          <a:prstGeom prst="rect">
            <a:avLst/>
          </a:prstGeom>
          <a:noFill/>
        </p:spPr>
        <p:txBody>
          <a:bodyPr wrap="square" lIns="0" tIns="0" rIns="0" bIns="0" anchor="t">
            <a:spAutoFit/>
          </a:bodyPr>
          <a:lstStyle/>
          <a:p>
            <a:pPr algn="l"/>
            <a:r>
              <a:rPr sz="900" b="0" i="0" u="none">
                <a:solidFill>
                  <a:srgbClr val="94A3B8"/>
                </a:solidFill>
                <a:latin typeface="Inter"/>
              </a:rPr>
              <a:t>Slide 4 of 4</a:t>
            </a:r>
          </a:p>
        </p:txBody>
      </p:sp>
      <p:pic>
        <p:nvPicPr>
          <p:cNvPr id="14" name="Picture 13" descr="image.png"/>
          <p:cNvPicPr>
            <a:picLocks noChangeAspect="1"/>
          </p:cNvPicPr>
          <p:nvPr/>
        </p:nvPicPr>
        <p:blipFill>
          <a:blip r:embed="rId11"/>
          <a:stretch>
            <a:fillRect/>
          </a:stretch>
        </p:blipFill>
        <p:spPr>
          <a:xfrm>
            <a:off x="6272212" y="1514475"/>
            <a:ext cx="5386387" cy="4552950"/>
          </a:xfrm>
          <a:prstGeom prst="rect">
            <a:avLst/>
          </a:prstGeom>
        </p:spPr>
      </p:pic>
      <p:sp>
        <p:nvSpPr>
          <p:cNvPr id="15" name="TextBox 14"/>
          <p:cNvSpPr txBox="1"/>
          <p:nvPr/>
        </p:nvSpPr>
        <p:spPr>
          <a:xfrm>
            <a:off x="752475" y="3143250"/>
            <a:ext cx="5235654" cy="257175"/>
          </a:xfrm>
          <a:prstGeom prst="rect">
            <a:avLst/>
          </a:prstGeom>
          <a:noFill/>
        </p:spPr>
        <p:txBody>
          <a:bodyPr wrap="square" lIns="0" tIns="0" rIns="0" bIns="0" anchor="t">
            <a:spAutoFit/>
          </a:bodyPr>
          <a:lstStyle/>
          <a:p>
            <a:pPr algn="l"/>
            <a:r>
              <a:rPr sz="1350" b="0" i="0" u="none">
                <a:solidFill>
                  <a:srgbClr val="1E293B"/>
                </a:solidFill>
                <a:latin typeface="Poppins SemiBold"/>
              </a:rPr>
              <a:t>Key Data Insights</a:t>
            </a:r>
          </a:p>
        </p:txBody>
      </p:sp>
      <p:sp>
        <p:nvSpPr>
          <p:cNvPr id="16" name="TextBox 15"/>
          <p:cNvSpPr txBox="1"/>
          <p:nvPr/>
        </p:nvSpPr>
        <p:spPr>
          <a:xfrm>
            <a:off x="752475" y="3457575"/>
            <a:ext cx="4986337" cy="600075"/>
          </a:xfrm>
          <a:prstGeom prst="rect">
            <a:avLst/>
          </a:prstGeom>
          <a:noFill/>
        </p:spPr>
        <p:txBody>
          <a:bodyPr wrap="square" lIns="0" tIns="0" rIns="0" bIns="0" anchor="t">
            <a:spAutoFit/>
          </a:bodyPr>
          <a:lstStyle/>
          <a:p>
            <a:pPr algn="l">
              <a:lnSpc>
                <a:spcPts val="1575"/>
              </a:lnSpc>
            </a:pPr>
            <a:r>
              <a:rPr sz="1050" b="1" i="0" u="none">
                <a:solidFill>
                  <a:srgbClr val="64748B"/>
                </a:solidFill>
                <a:latin typeface="Inter"/>
              </a:rPr>
              <a:t>George Street</a:t>
            </a:r>
            <a:r>
              <a:rPr sz="1050" b="0" i="0" u="none">
                <a:solidFill>
                  <a:srgbClr val="64748B"/>
                </a:solidFill>
                <a:latin typeface="Inter"/>
              </a:rPr>
              <a:t> leads foot traffic by a massive margin (31.05M count), followed by Park Street (4.35M) &amp; King Street (3.77M). Distinct peaks observed during weekday commuter rushes vs weekend leisure hours.</a:t>
            </a:r>
          </a:p>
        </p:txBody>
      </p:sp>
      <p:sp>
        <p:nvSpPr>
          <p:cNvPr id="17" name="TextBox 16"/>
          <p:cNvSpPr txBox="1"/>
          <p:nvPr/>
        </p:nvSpPr>
        <p:spPr>
          <a:xfrm>
            <a:off x="752475" y="4514850"/>
            <a:ext cx="5235654" cy="257175"/>
          </a:xfrm>
          <a:prstGeom prst="rect">
            <a:avLst/>
          </a:prstGeom>
          <a:noFill/>
        </p:spPr>
        <p:txBody>
          <a:bodyPr wrap="square" lIns="0" tIns="0" rIns="0" bIns="0" anchor="t">
            <a:spAutoFit/>
          </a:bodyPr>
          <a:lstStyle/>
          <a:p>
            <a:pPr algn="l"/>
            <a:r>
              <a:rPr sz="1350" b="0" i="0" u="none">
                <a:solidFill>
                  <a:srgbClr val="1E293B"/>
                </a:solidFill>
                <a:latin typeface="Poppins SemiBold"/>
              </a:rPr>
              <a:t>Project Hours &amp; Cost Estimation</a:t>
            </a:r>
          </a:p>
        </p:txBody>
      </p:sp>
      <p:sp>
        <p:nvSpPr>
          <p:cNvPr id="18" name="TextBox 17"/>
          <p:cNvSpPr txBox="1"/>
          <p:nvPr/>
        </p:nvSpPr>
        <p:spPr>
          <a:xfrm>
            <a:off x="752475" y="4829175"/>
            <a:ext cx="4986337" cy="800100"/>
          </a:xfrm>
          <a:prstGeom prst="rect">
            <a:avLst/>
          </a:prstGeom>
          <a:noFill/>
        </p:spPr>
        <p:txBody>
          <a:bodyPr wrap="square" lIns="0" tIns="0" rIns="0" bIns="0" anchor="t">
            <a:spAutoFit/>
          </a:bodyPr>
          <a:lstStyle/>
          <a:p>
            <a:pPr algn="l">
              <a:lnSpc>
                <a:spcPts val="1575"/>
              </a:lnSpc>
            </a:pPr>
            <a:r>
              <a:rPr sz="1050" b="1" i="0" u="none">
                <a:solidFill>
                  <a:srgbClr val="64748B"/>
                </a:solidFill>
                <a:latin typeface="Inter"/>
              </a:rPr>
              <a:t>Total Time: 7 Hours</a:t>
            </a:r>
            <a:r>
              <a:rPr sz="1050" b="0" i="0" u="none">
                <a:solidFill>
                  <a:srgbClr val="64748B"/>
                </a:solidFill>
                <a:latin typeface="Inter"/>
              </a:rPr>
              <a:t> (AWS 1h, Snowflake 1h, Data Load 1h, SQL 2h, Tableau 1h, Testing 1h).</a:t>
            </a:r>
            <a:r>
              <a:t>
</a:t>
            </a:r>
            <a:r>
              <a:rPr sz="1050" b="1" i="0" u="none">
                <a:solidFill>
                  <a:srgbClr val="64748B"/>
                </a:solidFill>
                <a:latin typeface="Inter"/>
              </a:rPr>
              <a:t>Total Cost: $0</a:t>
            </a:r>
            <a:r>
              <a:rPr sz="1050" b="0" i="0" u="none">
                <a:solidFill>
                  <a:srgbClr val="64748B"/>
                </a:solidFill>
                <a:latin typeface="Inter"/>
              </a:rPr>
              <a:t> (Utilized AWS Free Tier, Snowflake Trial, and Tableau Student License).</a:t>
            </a:r>
          </a:p>
        </p:txBody>
      </p:sp>
      <p:sp>
        <p:nvSpPr>
          <p:cNvPr id="19" name="TextBox 18"/>
          <p:cNvSpPr txBox="1"/>
          <p:nvPr/>
        </p:nvSpPr>
        <p:spPr>
          <a:xfrm>
            <a:off x="676275" y="1952625"/>
            <a:ext cx="1401663" cy="400050"/>
          </a:xfrm>
          <a:prstGeom prst="rect">
            <a:avLst/>
          </a:prstGeom>
          <a:noFill/>
        </p:spPr>
        <p:txBody>
          <a:bodyPr wrap="square" lIns="0" tIns="0" rIns="0" bIns="0" anchor="t">
            <a:spAutoFit/>
          </a:bodyPr>
          <a:lstStyle/>
          <a:p>
            <a:pPr algn="ctr"/>
            <a:r>
              <a:rPr sz="2100" b="1" i="0" u="none">
                <a:solidFill>
                  <a:srgbClr val="0284C7"/>
                </a:solidFill>
                <a:latin typeface="Poppins"/>
              </a:rPr>
              <a:t>79.1M+</a:t>
            </a:r>
          </a:p>
        </p:txBody>
      </p:sp>
      <p:sp>
        <p:nvSpPr>
          <p:cNvPr id="20" name="TextBox 19"/>
          <p:cNvSpPr txBox="1"/>
          <p:nvPr/>
        </p:nvSpPr>
        <p:spPr>
          <a:xfrm>
            <a:off x="676275" y="2352675"/>
            <a:ext cx="1401663" cy="142875"/>
          </a:xfrm>
          <a:prstGeom prst="rect">
            <a:avLst/>
          </a:prstGeom>
          <a:noFill/>
        </p:spPr>
        <p:txBody>
          <a:bodyPr wrap="square" lIns="0" tIns="0" rIns="0" bIns="0" anchor="t">
            <a:spAutoFit/>
          </a:bodyPr>
          <a:lstStyle/>
          <a:p>
            <a:pPr algn="ctr"/>
            <a:r>
              <a:rPr sz="900" b="0" i="0" u="none">
                <a:solidFill>
                  <a:srgbClr val="0369A1"/>
                </a:solidFill>
                <a:latin typeface="Inter SemiBold"/>
              </a:rPr>
              <a:t>TOTAL PEDESTRIANS</a:t>
            </a:r>
          </a:p>
        </p:txBody>
      </p:sp>
      <p:sp>
        <p:nvSpPr>
          <p:cNvPr id="21" name="TextBox 20"/>
          <p:cNvSpPr txBox="1"/>
          <p:nvPr/>
        </p:nvSpPr>
        <p:spPr>
          <a:xfrm>
            <a:off x="2525613" y="1952625"/>
            <a:ext cx="1401812" cy="400050"/>
          </a:xfrm>
          <a:prstGeom prst="rect">
            <a:avLst/>
          </a:prstGeom>
          <a:noFill/>
        </p:spPr>
        <p:txBody>
          <a:bodyPr wrap="square" lIns="0" tIns="0" rIns="0" bIns="0" anchor="t">
            <a:spAutoFit/>
          </a:bodyPr>
          <a:lstStyle/>
          <a:p>
            <a:pPr algn="ctr"/>
            <a:r>
              <a:rPr sz="2100" b="1" i="0" u="none">
                <a:solidFill>
                  <a:srgbClr val="0284C7"/>
                </a:solidFill>
                <a:latin typeface="Poppins"/>
              </a:rPr>
              <a:t>31.05M</a:t>
            </a:r>
          </a:p>
        </p:txBody>
      </p:sp>
      <p:sp>
        <p:nvSpPr>
          <p:cNvPr id="22" name="TextBox 21"/>
          <p:cNvSpPr txBox="1"/>
          <p:nvPr/>
        </p:nvSpPr>
        <p:spPr>
          <a:xfrm>
            <a:off x="2525613" y="2352675"/>
            <a:ext cx="1401812" cy="142875"/>
          </a:xfrm>
          <a:prstGeom prst="rect">
            <a:avLst/>
          </a:prstGeom>
          <a:noFill/>
        </p:spPr>
        <p:txBody>
          <a:bodyPr wrap="square" lIns="0" tIns="0" rIns="0" bIns="0" anchor="t">
            <a:spAutoFit/>
          </a:bodyPr>
          <a:lstStyle/>
          <a:p>
            <a:pPr algn="ctr"/>
            <a:r>
              <a:rPr sz="900" b="0" i="0" u="none">
                <a:solidFill>
                  <a:srgbClr val="0369A1"/>
                </a:solidFill>
                <a:latin typeface="Inter SemiBold"/>
              </a:rPr>
              <a:t>#1 SPOT: GEORGE ST</a:t>
            </a:r>
          </a:p>
        </p:txBody>
      </p:sp>
      <p:sp>
        <p:nvSpPr>
          <p:cNvPr id="23" name="TextBox 22"/>
          <p:cNvSpPr txBox="1"/>
          <p:nvPr/>
        </p:nvSpPr>
        <p:spPr>
          <a:xfrm>
            <a:off x="4375100" y="1952625"/>
            <a:ext cx="1401812" cy="400050"/>
          </a:xfrm>
          <a:prstGeom prst="rect">
            <a:avLst/>
          </a:prstGeom>
          <a:noFill/>
        </p:spPr>
        <p:txBody>
          <a:bodyPr wrap="square" lIns="0" tIns="0" rIns="0" bIns="0" anchor="t">
            <a:spAutoFit/>
          </a:bodyPr>
          <a:lstStyle/>
          <a:p>
            <a:pPr algn="ctr"/>
            <a:r>
              <a:rPr sz="2100" b="1" i="0" u="none">
                <a:solidFill>
                  <a:srgbClr val="0284C7"/>
                </a:solidFill>
                <a:latin typeface="Poppins"/>
              </a:rPr>
              <a:t>$0</a:t>
            </a:r>
          </a:p>
        </p:txBody>
      </p:sp>
      <p:sp>
        <p:nvSpPr>
          <p:cNvPr id="24" name="TextBox 23"/>
          <p:cNvSpPr txBox="1"/>
          <p:nvPr/>
        </p:nvSpPr>
        <p:spPr>
          <a:xfrm>
            <a:off x="4375100" y="2352675"/>
            <a:ext cx="1401812" cy="142875"/>
          </a:xfrm>
          <a:prstGeom prst="rect">
            <a:avLst/>
          </a:prstGeom>
          <a:noFill/>
        </p:spPr>
        <p:txBody>
          <a:bodyPr wrap="square" lIns="0" tIns="0" rIns="0" bIns="0" anchor="t">
            <a:spAutoFit/>
          </a:bodyPr>
          <a:lstStyle/>
          <a:p>
            <a:pPr algn="ctr"/>
            <a:r>
              <a:rPr sz="900" b="0" i="0" u="none">
                <a:solidFill>
                  <a:srgbClr val="0369A1"/>
                </a:solidFill>
                <a:latin typeface="Inter SemiBold"/>
              </a:rPr>
              <a:t>TOTAL INFRA COST</a:t>
            </a:r>
          </a:p>
        </p:txBody>
      </p:sp>
      <p:pic>
        <p:nvPicPr>
          <p:cNvPr id="25" name="Picture 24">
            <a:extLst>
              <a:ext uri="{FF2B5EF4-FFF2-40B4-BE49-F238E27FC236}">
                <a16:creationId xmlns:a16="http://schemas.microsoft.com/office/drawing/2014/main" id="{ADF174F9-3FEF-FA3A-D8AF-E877A309209B}"/>
              </a:ext>
            </a:extLst>
          </p:cNvPr>
          <p:cNvPicPr>
            <a:picLocks noChangeAspect="1"/>
          </p:cNvPicPr>
          <p:nvPr/>
        </p:nvPicPr>
        <p:blipFill>
          <a:blip r:embed="rId12"/>
          <a:stretch>
            <a:fillRect/>
          </a:stretch>
        </p:blipFill>
        <p:spPr>
          <a:xfrm>
            <a:off x="0" y="0"/>
            <a:ext cx="12192000" cy="6858000"/>
          </a:xfrm>
          <a:prstGeom prst="rect">
            <a:avLst/>
          </a:prstGeom>
        </p:spPr>
      </p:pic>
    </p:spTree>
    <p:extLst>
      <p:ext uri="{BB962C8B-B14F-4D97-AF65-F5344CB8AC3E}">
        <p14:creationId xmlns:p14="http://schemas.microsoft.com/office/powerpoint/2010/main" val="1227663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18872" cy="118872"/>
          </a:xfrm>
          <a:prstGeom prst="rect">
            <a:avLst/>
          </a:prstGeom>
          <a:solidFill>
            <a:srgbClr val="E4572E"/>
          </a:solidFill>
          <a:ln w="12700">
            <a:solidFill>
              <a:srgbClr val="E4572E"/>
            </a:solidFill>
            <a:prstDash val="solid"/>
          </a:ln>
        </p:spPr>
      </p:sp>
      <p:sp>
        <p:nvSpPr>
          <p:cNvPr id="3" name="Text 1"/>
          <p:cNvSpPr/>
          <p:nvPr/>
        </p:nvSpPr>
        <p:spPr>
          <a:xfrm>
            <a:off x="676656" y="493776"/>
            <a:ext cx="8229600" cy="274320"/>
          </a:xfrm>
          <a:prstGeom prst="rect">
            <a:avLst/>
          </a:prstGeom>
          <a:noFill/>
          <a:ln/>
        </p:spPr>
        <p:txBody>
          <a:bodyPr wrap="square" lIns="0" tIns="0" rIns="0" bIns="0" rtlCol="0" anchor="ctr"/>
          <a:lstStyle/>
          <a:p>
            <a:pPr marL="0" indent="0">
              <a:buNone/>
            </a:pPr>
            <a:r>
              <a:rPr lang="en-US" sz="950" b="1" kern="0" spc="120" dirty="0">
                <a:solidFill>
                  <a:srgbClr val="E4572E"/>
                </a:solidFill>
                <a:latin typeface="Calibri" pitchFamily="34" charset="0"/>
                <a:ea typeface="Calibri" pitchFamily="34" charset="-122"/>
                <a:cs typeface="Calibri" pitchFamily="34" charset="-120"/>
              </a:rPr>
              <a:t>PRESENTED BY STUDENT TWO · JUSTIN DANG</a:t>
            </a:r>
            <a:endParaRPr lang="en-US" sz="950" dirty="0"/>
          </a:p>
        </p:txBody>
      </p:sp>
      <p:sp>
        <p:nvSpPr>
          <p:cNvPr id="4" name="Text 2"/>
          <p:cNvSpPr/>
          <p:nvPr/>
        </p:nvSpPr>
        <p:spPr>
          <a:xfrm>
            <a:off x="457200" y="841248"/>
            <a:ext cx="11247120" cy="566928"/>
          </a:xfrm>
          <a:prstGeom prst="rect">
            <a:avLst/>
          </a:prstGeom>
          <a:noFill/>
          <a:ln/>
        </p:spPr>
        <p:txBody>
          <a:bodyPr wrap="square" lIns="0" tIns="0" rIns="0" bIns="0" rtlCol="0" anchor="ctr"/>
          <a:lstStyle/>
          <a:p>
            <a:pPr marL="0" indent="0">
              <a:buNone/>
            </a:pPr>
            <a:r>
              <a:rPr lang="en-US" sz="3000" b="1" dirty="0">
                <a:solidFill>
                  <a:srgbClr val="12263A"/>
                </a:solidFill>
                <a:latin typeface="Cambria" pitchFamily="34" charset="0"/>
                <a:ea typeface="Cambria" pitchFamily="34" charset="-122"/>
                <a:cs typeface="Cambria" pitchFamily="34" charset="-120"/>
              </a:rPr>
              <a:t>References and AI Acknowledgement</a:t>
            </a:r>
            <a:endParaRPr lang="en-US" sz="3000" dirty="0"/>
          </a:p>
        </p:txBody>
      </p:sp>
      <p:sp>
        <p:nvSpPr>
          <p:cNvPr id="5" name="Text 3"/>
          <p:cNvSpPr/>
          <p:nvPr/>
        </p:nvSpPr>
        <p:spPr>
          <a:xfrm>
            <a:off x="457200" y="1463040"/>
            <a:ext cx="6949440" cy="274320"/>
          </a:xfrm>
          <a:prstGeom prst="rect">
            <a:avLst/>
          </a:prstGeom>
          <a:noFill/>
          <a:ln/>
        </p:spPr>
        <p:txBody>
          <a:bodyPr wrap="square" lIns="0" tIns="0" rIns="0" bIns="0" rtlCol="0" anchor="ctr"/>
          <a:lstStyle/>
          <a:p>
            <a:pPr marL="0" indent="0">
              <a:buNone/>
            </a:pPr>
            <a:endParaRPr lang="en-US" sz="1250" b="1" dirty="0">
              <a:solidFill>
                <a:srgbClr val="12263A"/>
              </a:solidFill>
              <a:latin typeface="Cambria"/>
              <a:ea typeface="Cambria"/>
            </a:endParaRPr>
          </a:p>
        </p:txBody>
      </p:sp>
      <p:sp>
        <p:nvSpPr>
          <p:cNvPr id="6" name="Text 4"/>
          <p:cNvSpPr/>
          <p:nvPr/>
        </p:nvSpPr>
        <p:spPr>
          <a:xfrm>
            <a:off x="457200" y="1792224"/>
            <a:ext cx="6949440" cy="3200400"/>
          </a:xfrm>
          <a:prstGeom prst="rect">
            <a:avLst/>
          </a:prstGeom>
          <a:noFill/>
          <a:ln/>
        </p:spPr>
        <p:txBody>
          <a:bodyPr wrap="square" lIns="0" tIns="0" rIns="0" bIns="0" rtlCol="0" anchor="t"/>
          <a:lstStyle/>
          <a:p>
            <a:pPr marL="0" indent="0" algn="l">
              <a:lnSpc>
                <a:spcPct val="128000"/>
              </a:lnSpc>
              <a:buNone/>
            </a:pPr>
            <a:r>
              <a:rPr lang="en-US" sz="1200" dirty="0">
                <a:solidFill>
                  <a:srgbClr val="5F7183"/>
                </a:solidFill>
                <a:latin typeface="Calibri"/>
                <a:ea typeface="Calibri"/>
                <a:cs typeface="Calibri"/>
              </a:rPr>
              <a:t>Amazon Web Services. (2026). Amazon Simple Storage Service user guide. https://docs.aws.amazon.com/AmazonS3/latest/userguide/Welcome.html</a:t>
            </a:r>
            <a:endParaRPr lang="en-US" sz="1200">
              <a:latin typeface="Calibri"/>
              <a:ea typeface="Calibri"/>
              <a:cs typeface="Calibri"/>
            </a:endParaRPr>
          </a:p>
          <a:p>
            <a:pPr marL="0" indent="0" algn="l">
              <a:lnSpc>
                <a:spcPct val="128000"/>
              </a:lnSpc>
              <a:buNone/>
            </a:pPr>
            <a:r>
              <a:rPr lang="en-US" sz="1200" dirty="0">
                <a:solidFill>
                  <a:srgbClr val="5F7183"/>
                </a:solidFill>
                <a:latin typeface="Calibri"/>
                <a:ea typeface="Calibri"/>
                <a:cs typeface="Calibri"/>
              </a:rPr>
              <a:t>City of Melbourne. (2026). Pedestrian counting system (counts per hour) [Data set]. City of Melbourne Open Data. https://data.melbourne.vic.gov.au/explore/dataset/pedestrian-counting-system-monthly-counts-per-hour/</a:t>
            </a:r>
            <a:endParaRPr lang="en-US" sz="1200">
              <a:latin typeface="Calibri"/>
              <a:ea typeface="Calibri"/>
              <a:cs typeface="Calibri"/>
            </a:endParaRPr>
          </a:p>
          <a:p>
            <a:pPr marL="0" indent="0" algn="l">
              <a:lnSpc>
                <a:spcPct val="128000"/>
              </a:lnSpc>
              <a:buNone/>
            </a:pPr>
            <a:r>
              <a:rPr lang="en-US" sz="1200" dirty="0">
                <a:solidFill>
                  <a:srgbClr val="5F7183"/>
                </a:solidFill>
                <a:latin typeface="Calibri"/>
                <a:ea typeface="Calibri"/>
                <a:cs typeface="Calibri"/>
              </a:rPr>
              <a:t>City of Melbourne. (2026). Pedestrian counting system. https://www.melbourne.vic.gov.au/pedestrian-counting-system</a:t>
            </a:r>
            <a:endParaRPr lang="en-US" sz="1200">
              <a:latin typeface="Calibri"/>
              <a:ea typeface="Calibri"/>
              <a:cs typeface="Calibri"/>
            </a:endParaRPr>
          </a:p>
          <a:p>
            <a:pPr marL="0" indent="0" algn="l">
              <a:lnSpc>
                <a:spcPct val="128000"/>
              </a:lnSpc>
              <a:buNone/>
            </a:pPr>
            <a:r>
              <a:rPr lang="en-US" sz="1200" dirty="0">
                <a:solidFill>
                  <a:srgbClr val="5F7183"/>
                </a:solidFill>
                <a:latin typeface="Calibri"/>
                <a:ea typeface="Calibri"/>
                <a:cs typeface="Calibri"/>
              </a:rPr>
              <a:t>Shi, H. (2026). NIT2202 group assignment requirements [Unit materials]. Victoria University.</a:t>
            </a:r>
          </a:p>
          <a:p>
            <a:pPr>
              <a:lnSpc>
                <a:spcPct val="128000"/>
              </a:lnSpc>
            </a:pPr>
            <a:endParaRPr lang="en-US" sz="1200" dirty="0">
              <a:solidFill>
                <a:srgbClr val="5F7183"/>
              </a:solidFill>
              <a:latin typeface="Calibri"/>
              <a:ea typeface="Calibri"/>
              <a:cs typeface="Calibri"/>
            </a:endParaRPr>
          </a:p>
          <a:p>
            <a:r>
              <a:rPr lang="en-US" sz="1200">
                <a:solidFill>
                  <a:srgbClr val="7C7C7C"/>
                </a:solidFill>
                <a:latin typeface="Calibri"/>
                <a:ea typeface="Calibri"/>
                <a:cs typeface="Calibri"/>
              </a:rPr>
              <a:t>City of Sydney. (2026, April 21). </a:t>
            </a:r>
            <a:r>
              <a:rPr lang="en-US" sz="1200" i="1">
                <a:solidFill>
                  <a:srgbClr val="7C7C7C"/>
                </a:solidFill>
                <a:latin typeface="Calibri"/>
                <a:ea typeface="Calibri"/>
                <a:cs typeface="Calibri"/>
              </a:rPr>
              <a:t>Walking count surveys</a:t>
            </a:r>
            <a:r>
              <a:rPr lang="en-US" sz="1200">
                <a:solidFill>
                  <a:srgbClr val="7C7C7C"/>
                </a:solidFill>
                <a:latin typeface="Calibri"/>
                <a:ea typeface="Calibri"/>
                <a:cs typeface="Calibri"/>
              </a:rPr>
              <a:t> [Data set]. </a:t>
            </a:r>
            <a:r>
              <a:rPr lang="en-US" sz="1200" dirty="0">
                <a:solidFill>
                  <a:srgbClr val="7C7C7C"/>
                </a:solidFill>
                <a:latin typeface="Calibri"/>
                <a:ea typeface="Calibri"/>
                <a:cs typeface="Calibri"/>
                <a:hlinkClick r:id="rId3"/>
              </a:rPr>
              <a:t>https://data.cityofsydney.nsw.gov.au/datasets/cityofsydney::walking-count-surveys/about</a:t>
            </a:r>
            <a:endParaRPr lang="en-US" sz="1200"/>
          </a:p>
          <a:p>
            <a:pPr marL="0" indent="0" algn="l">
              <a:lnSpc>
                <a:spcPct val="128000"/>
              </a:lnSpc>
              <a:buNone/>
            </a:pPr>
            <a:r>
              <a:rPr lang="en-US" sz="1200" dirty="0">
                <a:solidFill>
                  <a:srgbClr val="5F7183"/>
                </a:solidFill>
                <a:latin typeface="Calibri"/>
                <a:ea typeface="Calibri"/>
                <a:cs typeface="Calibri"/>
              </a:rPr>
              <a:t>Snowflake Inc. (2026). Bulk loading from Amazon S3. Snowflake documentation. https://docs.snowflake.com/en/user-guide/data-load-s3</a:t>
            </a:r>
            <a:endParaRPr lang="en-US" sz="1200">
              <a:latin typeface="Calibri"/>
              <a:ea typeface="Calibri"/>
              <a:cs typeface="Calibri"/>
            </a:endParaRPr>
          </a:p>
          <a:p>
            <a:pPr marL="0" indent="0" algn="l">
              <a:lnSpc>
                <a:spcPct val="128000"/>
              </a:lnSpc>
              <a:buNone/>
            </a:pPr>
            <a:r>
              <a:rPr lang="en-US" sz="1200" dirty="0">
                <a:solidFill>
                  <a:srgbClr val="5F7183"/>
                </a:solidFill>
                <a:latin typeface="Calibri"/>
                <a:ea typeface="Calibri"/>
                <a:cs typeface="Calibri"/>
              </a:rPr>
              <a:t>Snowflake Inc. (2026). COPY INTO &lt;table&gt;. Snowflake documentation. https://docs.snowflake.com/en/sql-reference/sql/copy-into-table</a:t>
            </a:r>
            <a:endParaRPr lang="en-US" sz="1200">
              <a:latin typeface="Calibri"/>
              <a:ea typeface="Calibri"/>
              <a:cs typeface="Calibri"/>
            </a:endParaRPr>
          </a:p>
          <a:p>
            <a:pPr marL="0" indent="0" algn="l">
              <a:lnSpc>
                <a:spcPct val="128000"/>
              </a:lnSpc>
              <a:buNone/>
            </a:pPr>
            <a:r>
              <a:rPr lang="en-US" sz="1200" dirty="0">
                <a:solidFill>
                  <a:srgbClr val="5F7183"/>
                </a:solidFill>
                <a:latin typeface="Calibri"/>
                <a:ea typeface="Calibri"/>
                <a:cs typeface="Calibri"/>
              </a:rPr>
              <a:t>Tableau. (2026). Snowflake. Tableau help. https://help.tableau.com/current/pro/desktop/en-us/examples_snowflake.htm</a:t>
            </a:r>
            <a:endParaRPr lang="en-US" sz="1200">
              <a:latin typeface="Calibri"/>
              <a:ea typeface="Calibri"/>
              <a:cs typeface="Calibri"/>
            </a:endParaRPr>
          </a:p>
        </p:txBody>
      </p:sp>
      <p:sp>
        <p:nvSpPr>
          <p:cNvPr id="8" name="Text 6"/>
          <p:cNvSpPr/>
          <p:nvPr/>
        </p:nvSpPr>
        <p:spPr>
          <a:xfrm>
            <a:off x="658368" y="5157216"/>
            <a:ext cx="6547104" cy="320040"/>
          </a:xfrm>
          <a:prstGeom prst="rect">
            <a:avLst/>
          </a:prstGeom>
          <a:noFill/>
          <a:ln/>
        </p:spPr>
        <p:txBody>
          <a:bodyPr wrap="square" lIns="0" tIns="0" rIns="0" bIns="0" rtlCol="0" anchor="ctr"/>
          <a:lstStyle/>
          <a:p>
            <a:pPr marL="0" indent="0" algn="l">
              <a:buNone/>
            </a:pPr>
            <a:endParaRPr lang="en-US" sz="1200" b="1" dirty="0">
              <a:solidFill>
                <a:srgbClr val="E4572E"/>
              </a:solidFill>
              <a:latin typeface="Calibri"/>
              <a:ea typeface="Calibri"/>
              <a:cs typeface="Calibri"/>
            </a:endParaRPr>
          </a:p>
        </p:txBody>
      </p:sp>
      <p:sp>
        <p:nvSpPr>
          <p:cNvPr id="10" name="Shape 8"/>
          <p:cNvSpPr/>
          <p:nvPr/>
        </p:nvSpPr>
        <p:spPr>
          <a:xfrm>
            <a:off x="7772400" y="1463040"/>
            <a:ext cx="3959352" cy="4617720"/>
          </a:xfrm>
          <a:prstGeom prst="roundRect">
            <a:avLst>
              <a:gd name="adj" fmla="val 1386"/>
            </a:avLst>
          </a:prstGeom>
          <a:solidFill>
            <a:srgbClr val="EEF2F6"/>
          </a:solidFill>
          <a:ln w="12700">
            <a:solidFill>
              <a:srgbClr val="D5DCE3"/>
            </a:solidFill>
            <a:prstDash val="solid"/>
          </a:ln>
        </p:spPr>
      </p:sp>
      <p:sp>
        <p:nvSpPr>
          <p:cNvPr id="11" name="Text 9"/>
          <p:cNvSpPr/>
          <p:nvPr/>
        </p:nvSpPr>
        <p:spPr>
          <a:xfrm>
            <a:off x="7991856" y="1645920"/>
            <a:ext cx="3520440" cy="320040"/>
          </a:xfrm>
          <a:prstGeom prst="rect">
            <a:avLst/>
          </a:prstGeom>
          <a:noFill/>
          <a:ln/>
        </p:spPr>
        <p:txBody>
          <a:bodyPr wrap="square" lIns="0" tIns="0" rIns="0" bIns="0" rtlCol="0" anchor="ctr"/>
          <a:lstStyle/>
          <a:p>
            <a:pPr marL="0" indent="0">
              <a:buNone/>
            </a:pPr>
            <a:r>
              <a:rPr lang="en-US" sz="1350" b="1" dirty="0">
                <a:solidFill>
                  <a:srgbClr val="12263A"/>
                </a:solidFill>
                <a:latin typeface="Cambria" pitchFamily="34" charset="0"/>
                <a:ea typeface="Cambria" pitchFamily="34" charset="-122"/>
                <a:cs typeface="Cambria" pitchFamily="34" charset="-120"/>
              </a:rPr>
              <a:t>AI acknowledgement</a:t>
            </a:r>
            <a:endParaRPr lang="en-US" sz="1350" dirty="0"/>
          </a:p>
        </p:txBody>
      </p:sp>
      <p:sp>
        <p:nvSpPr>
          <p:cNvPr id="12" name="Text 10"/>
          <p:cNvSpPr/>
          <p:nvPr/>
        </p:nvSpPr>
        <p:spPr>
          <a:xfrm>
            <a:off x="7991856" y="2048256"/>
            <a:ext cx="3520440" cy="3840480"/>
          </a:xfrm>
          <a:prstGeom prst="rect">
            <a:avLst/>
          </a:prstGeom>
          <a:noFill/>
          <a:ln/>
        </p:spPr>
        <p:txBody>
          <a:bodyPr wrap="square" lIns="0" tIns="0" rIns="0" bIns="0" rtlCol="0" anchor="t"/>
          <a:lstStyle/>
          <a:p>
            <a:pPr marL="0" indent="0" algn="l">
              <a:lnSpc>
                <a:spcPct val="118000"/>
              </a:lnSpc>
              <a:buNone/>
            </a:pPr>
            <a:r>
              <a:rPr lang="en-US" sz="1100" dirty="0">
                <a:solidFill>
                  <a:srgbClr val="5F7183"/>
                </a:solidFill>
                <a:latin typeface="Calibri" pitchFamily="34" charset="0"/>
                <a:ea typeface="Calibri" pitchFamily="34" charset="-122"/>
                <a:cs typeface="Calibri" pitchFamily="34" charset="-120"/>
              </a:rPr>
              <a:t>Generative AI tools were used to support the structuring, wording and visual design of this presentation.</a:t>
            </a:r>
            <a:endParaRPr lang="en-US" sz="1100" dirty="0"/>
          </a:p>
          <a:p>
            <a:pPr marL="0" indent="0" algn="l">
              <a:lnSpc>
                <a:spcPct val="118000"/>
              </a:lnSpc>
              <a:buNone/>
            </a:pPr>
            <a:endParaRPr lang="en-US" sz="1100" dirty="0"/>
          </a:p>
          <a:p>
            <a:pPr marL="0" indent="0" algn="l">
              <a:lnSpc>
                <a:spcPct val="118000"/>
              </a:lnSpc>
              <a:buNone/>
            </a:pPr>
            <a:r>
              <a:rPr lang="en-US" sz="1100" dirty="0">
                <a:solidFill>
                  <a:srgbClr val="5F7183"/>
                </a:solidFill>
                <a:latin typeface="Calibri" pitchFamily="34" charset="0"/>
                <a:ea typeface="Calibri" pitchFamily="34" charset="-122"/>
                <a:cs typeface="Calibri" pitchFamily="34" charset="-120"/>
              </a:rPr>
              <a:t>All technical work — the AWS S3 configuration, Snowflake loading and SQL, and the Tableau dashboard — was implemented by the students.</a:t>
            </a:r>
            <a:endParaRPr lang="en-US" sz="1100" dirty="0"/>
          </a:p>
          <a:p>
            <a:pPr marL="0" indent="0" algn="l">
              <a:lnSpc>
                <a:spcPct val="118000"/>
              </a:lnSpc>
              <a:buNone/>
            </a:pPr>
            <a:endParaRPr lang="en-US" sz="1100" dirty="0"/>
          </a:p>
          <a:p>
            <a:pPr marL="0" indent="0" algn="l">
              <a:lnSpc>
                <a:spcPct val="118000"/>
              </a:lnSpc>
              <a:buNone/>
            </a:pPr>
            <a:r>
              <a:rPr lang="en-US" sz="1100" dirty="0">
                <a:solidFill>
                  <a:srgbClr val="5F7183"/>
                </a:solidFill>
                <a:latin typeface="Calibri" pitchFamily="34" charset="0"/>
                <a:ea typeface="Calibri" pitchFamily="34" charset="-122"/>
                <a:cs typeface="Calibri" pitchFamily="34" charset="-120"/>
              </a:rPr>
              <a:t>The students reviewed and verified every figure, screenshot and claim, and remain fully responsible for the final content and for explaining the design decisions behind it.</a:t>
            </a:r>
            <a:endParaRPr lang="en-US" sz="1100" dirty="0"/>
          </a:p>
        </p:txBody>
      </p:sp>
      <p:sp>
        <p:nvSpPr>
          <p:cNvPr id="13" name="Text 11"/>
          <p:cNvSpPr/>
          <p:nvPr/>
        </p:nvSpPr>
        <p:spPr>
          <a:xfrm>
            <a:off x="457200" y="6400800"/>
            <a:ext cx="7315200" cy="274320"/>
          </a:xfrm>
          <a:prstGeom prst="rect">
            <a:avLst/>
          </a:prstGeom>
          <a:noFill/>
          <a:ln/>
        </p:spPr>
        <p:txBody>
          <a:bodyPr wrap="square" lIns="0" tIns="0" rIns="0" bIns="0" rtlCol="0" anchor="ctr"/>
          <a:lstStyle/>
          <a:p>
            <a:pPr marL="0" indent="0" algn="l">
              <a:buNone/>
            </a:pPr>
            <a:r>
              <a:rPr lang="en-US" sz="900" dirty="0">
                <a:solidFill>
                  <a:srgbClr val="5F7183"/>
                </a:solidFill>
                <a:latin typeface="Calibri" pitchFamily="34" charset="0"/>
                <a:ea typeface="Calibri" pitchFamily="34" charset="-122"/>
                <a:cs typeface="Calibri" pitchFamily="34" charset="-120"/>
              </a:rPr>
              <a:t>NIT2202 Big Data  ·  Team Presentation</a:t>
            </a:r>
            <a:endParaRPr lang="en-US" sz="900" dirty="0"/>
          </a:p>
        </p:txBody>
      </p:sp>
      <p:sp>
        <p:nvSpPr>
          <p:cNvPr id="14" name="Text 12"/>
          <p:cNvSpPr/>
          <p:nvPr/>
        </p:nvSpPr>
        <p:spPr>
          <a:xfrm>
            <a:off x="11247120" y="6400800"/>
            <a:ext cx="502920" cy="274320"/>
          </a:xfrm>
          <a:prstGeom prst="rect">
            <a:avLst/>
          </a:prstGeom>
          <a:noFill/>
          <a:ln/>
        </p:spPr>
        <p:txBody>
          <a:bodyPr wrap="square" lIns="0" tIns="0" rIns="0" bIns="0" rtlCol="0" anchor="ctr"/>
          <a:lstStyle/>
          <a:p>
            <a:pPr marL="0" indent="0" algn="r">
              <a:buNone/>
            </a:pPr>
            <a:r>
              <a:rPr lang="en-US" sz="900" dirty="0">
                <a:solidFill>
                  <a:srgbClr val="5F7183"/>
                </a:solidFill>
                <a:latin typeface="Calibri" pitchFamily="34" charset="0"/>
                <a:ea typeface="Calibri" pitchFamily="34" charset="-122"/>
                <a:cs typeface="Calibri" pitchFamily="34" charset="-120"/>
              </a:rPr>
              <a:t>10</a:t>
            </a:r>
            <a:endParaRPr lang="en-US" sz="900" dirty="0"/>
          </a:p>
        </p:txBody>
      </p:sp>
    </p:spTree>
    <p:extLst>
      <p:ext uri="{BB962C8B-B14F-4D97-AF65-F5344CB8AC3E}">
        <p14:creationId xmlns:p14="http://schemas.microsoft.com/office/powerpoint/2010/main" val="37192937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7</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61</cp:revision>
  <dcterms:created xsi:type="dcterms:W3CDTF">2026-08-17T02:53:48Z</dcterms:created>
  <dcterms:modified xsi:type="dcterms:W3CDTF">2026-08-18T02:03:59Z</dcterms:modified>
</cp:coreProperties>
</file>